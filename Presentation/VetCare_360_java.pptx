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658" r:id="rId3"/>
    <p:sldMasterId id="2147483670" r:id="rId4"/>
  </p:sldMasterIdLst>
  <p:sldIdLst>
    <p:sldId id="256" r:id="rId5"/>
    <p:sldId id="269"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9144000" cy="5143500" type="screen16x9"/>
  <p:notesSz cx="6858000" cy="9144000"/>
  <p:defaultText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026"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228600" y="2497680"/>
            <a:ext cx="50670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47480" y="119880"/>
            <a:ext cx="8248680" cy="1711440"/>
          </a:xfrm>
          <a:prstGeom prst="rect">
            <a:avLst/>
          </a:prstGeom>
          <a:noFill/>
          <a:ln w="0">
            <a:noFill/>
          </a:ln>
        </p:spPr>
        <p:txBody>
          <a:bodyPr lIns="91440" tIns="91440" rIns="91440" bIns="91440" anchor="b">
            <a:noAutofit/>
          </a:bodyPr>
          <a:lstStyle/>
          <a:p>
            <a:pPr indent="0">
              <a:buNone/>
            </a:pPr>
            <a:r>
              <a:rPr lang="fr-FR" sz="7500" b="0" strike="noStrike" spc="-1">
                <a:solidFill>
                  <a:schemeClr val="dk1"/>
                </a:solidFill>
                <a:latin typeface="Arial"/>
              </a:rPr>
              <a:t>Click to edit the title text format</a:t>
            </a:r>
          </a:p>
        </p:txBody>
      </p:sp>
      <p:pic>
        <p:nvPicPr>
          <p:cNvPr id="4" name="Google Shape;11;p2"/>
          <p:cNvPicPr/>
          <p:nvPr/>
        </p:nvPicPr>
        <p:blipFill>
          <a:blip r:embed="rId3"/>
          <a:srcRect l="5173" t="9109" r="5173" b="11167"/>
          <a:stretch/>
        </p:blipFill>
        <p:spPr>
          <a:xfrm rot="10800000" flipH="1">
            <a:off x="1436400" y="2063880"/>
            <a:ext cx="6271200" cy="5576400"/>
          </a:xfrm>
          <a:prstGeom prst="rect">
            <a:avLst/>
          </a:prstGeom>
          <a:ln w="0">
            <a:noFill/>
          </a:ln>
        </p:spPr>
      </p:pic>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720000" y="369000"/>
            <a:ext cx="8195040" cy="748440"/>
          </a:xfrm>
          <a:prstGeom prst="rect">
            <a:avLst/>
          </a:prstGeom>
          <a:noFill/>
          <a:ln w="0">
            <a:noFill/>
          </a:ln>
        </p:spPr>
        <p:txBody>
          <a:bodyPr lIns="91440" tIns="91440" rIns="91440" bIns="91440" anchor="t">
            <a:noAutofit/>
          </a:bodyPr>
          <a:lstStyle/>
          <a:p>
            <a:pPr indent="0">
              <a:buNone/>
            </a:pPr>
            <a:r>
              <a:rPr lang="fr-FR" sz="4000" b="0" strike="noStrike" spc="-1">
                <a:solidFill>
                  <a:schemeClr val="dk1"/>
                </a:solidFill>
                <a:latin typeface="Arial"/>
              </a:rPr>
              <a:t>Click to edit the title text format</a:t>
            </a:r>
          </a:p>
        </p:txBody>
      </p:sp>
      <p:pic>
        <p:nvPicPr>
          <p:cNvPr id="16" name="Google Shape;67;p14"/>
          <p:cNvPicPr/>
          <p:nvPr/>
        </p:nvPicPr>
        <p:blipFill>
          <a:blip r:embed="rId3"/>
          <a:stretch/>
        </p:blipFill>
        <p:spPr>
          <a:xfrm>
            <a:off x="-2216880" y="1130400"/>
            <a:ext cx="4890960" cy="4890960"/>
          </a:xfrm>
          <a:prstGeom prst="rect">
            <a:avLst/>
          </a:prstGeom>
          <a:ln w="0">
            <a:noFill/>
          </a:ln>
        </p:spPr>
      </p:pic>
      <p:sp>
        <p:nvSpPr>
          <p:cNvPr id="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4038480" y="228600"/>
            <a:ext cx="4723920" cy="223812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a:rPr>
              <a:t>Click to edit the title text format</a:t>
            </a:r>
          </a:p>
        </p:txBody>
      </p:sp>
      <p:sp>
        <p:nvSpPr>
          <p:cNvPr id="19" name="PlaceHolder 2"/>
          <p:cNvSpPr>
            <a:spLocks noGrp="1"/>
          </p:cNvSpPr>
          <p:nvPr>
            <p:ph type="body"/>
          </p:nvPr>
        </p:nvSpPr>
        <p:spPr>
          <a:xfrm>
            <a:off x="4038480" y="2581560"/>
            <a:ext cx="4723920" cy="23331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
        <p:nvSpPr>
          <p:cNvPr id="20" name="PlaceHolder 3"/>
          <p:cNvSpPr>
            <a:spLocks noGrp="1"/>
          </p:cNvSpPr>
          <p:nvPr>
            <p:ph type="body"/>
          </p:nvPr>
        </p:nvSpPr>
        <p:spPr>
          <a:xfrm>
            <a:off x="360" y="0"/>
            <a:ext cx="391428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pic>
        <p:nvPicPr>
          <p:cNvPr id="21" name="Google Shape;72;p15"/>
          <p:cNvPicPr/>
          <p:nvPr/>
        </p:nvPicPr>
        <p:blipFill>
          <a:blip r:embed="rId3"/>
          <a:stretch/>
        </p:blipFill>
        <p:spPr>
          <a:xfrm rot="13841400">
            <a:off x="7791840" y="3881520"/>
            <a:ext cx="2545200" cy="254520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4" name="Google Shape;13;p3"/>
          <p:cNvPicPr/>
          <p:nvPr/>
        </p:nvPicPr>
        <p:blipFill>
          <a:blip r:embed="rId3"/>
          <a:srcRect l="8735" t="13760" r="9849" b="21413"/>
          <a:stretch/>
        </p:blipFill>
        <p:spPr>
          <a:xfrm rot="14139600">
            <a:off x="5523120" y="2601720"/>
            <a:ext cx="5340600" cy="4251960"/>
          </a:xfrm>
          <a:prstGeom prst="rect">
            <a:avLst/>
          </a:prstGeom>
          <a:ln w="0">
            <a:noFill/>
          </a:ln>
        </p:spPr>
      </p:pic>
      <p:sp>
        <p:nvSpPr>
          <p:cNvPr id="45" name="PlaceHolder 1"/>
          <p:cNvSpPr>
            <a:spLocks noGrp="1"/>
          </p:cNvSpPr>
          <p:nvPr>
            <p:ph type="title"/>
          </p:nvPr>
        </p:nvSpPr>
        <p:spPr>
          <a:xfrm>
            <a:off x="228600" y="901440"/>
            <a:ext cx="5837040" cy="3361680"/>
          </a:xfrm>
          <a:prstGeom prst="rect">
            <a:avLst/>
          </a:prstGeom>
          <a:noFill/>
          <a:ln w="0">
            <a:noFill/>
          </a:ln>
        </p:spPr>
        <p:txBody>
          <a:bodyPr lIns="91440" tIns="91440" rIns="91440" bIns="91440" anchor="b">
            <a:noAutofit/>
          </a:bodyPr>
          <a:lstStyle/>
          <a:p>
            <a:pPr indent="0">
              <a:buNone/>
            </a:pPr>
            <a:r>
              <a:rPr lang="fr-FR" sz="6000" b="0" strike="noStrike" spc="-1">
                <a:solidFill>
                  <a:schemeClr val="dk1"/>
                </a:solidFill>
                <a:latin typeface="Arial"/>
              </a:rPr>
              <a:t>Click to edit the title text format</a:t>
            </a:r>
          </a:p>
        </p:txBody>
      </p:sp>
      <p:sp>
        <p:nvSpPr>
          <p:cNvPr id="46" name="PlaceHolder 2"/>
          <p:cNvSpPr>
            <a:spLocks noGrp="1"/>
          </p:cNvSpPr>
          <p:nvPr>
            <p:ph type="title"/>
          </p:nvPr>
        </p:nvSpPr>
        <p:spPr>
          <a:xfrm>
            <a:off x="6655320" y="228600"/>
            <a:ext cx="2259720" cy="1829160"/>
          </a:xfrm>
          <a:prstGeom prst="rect">
            <a:avLst/>
          </a:prstGeom>
          <a:noFill/>
          <a:ln w="0">
            <a:noFill/>
          </a:ln>
        </p:spPr>
        <p:txBody>
          <a:bodyPr lIns="91440" tIns="91440" rIns="91440" bIns="91440" anchor="t">
            <a:noAutofit/>
          </a:bodyPr>
          <a:lstStyle/>
          <a:p>
            <a:pPr indent="0" algn="r">
              <a:lnSpc>
                <a:spcPct val="100000"/>
              </a:lnSpc>
              <a:buNone/>
            </a:pPr>
            <a:r>
              <a:rPr lang="fr-FR" sz="10000" b="1" strike="noStrike" spc="-1">
                <a:solidFill>
                  <a:schemeClr val="dk1"/>
                </a:solidFill>
                <a:latin typeface="Chakra Petch"/>
                <a:ea typeface="Chakra Petch"/>
              </a:rPr>
              <a:t>xx%</a:t>
            </a:r>
            <a:endParaRPr lang="fr-FR" sz="10000" b="0" strike="noStrike" spc="-1">
              <a:solidFill>
                <a:schemeClr val="dk1"/>
              </a:solidFill>
              <a:latin typeface="Arial"/>
            </a:endParaRPr>
          </a:p>
        </p:txBody>
      </p:sp>
      <p:sp>
        <p:nvSpPr>
          <p:cNvPr id="47"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447840" y="123840"/>
            <a:ext cx="8248320" cy="171432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7500" b="1" strike="noStrike" spc="-1" dirty="0">
                <a:solidFill>
                  <a:schemeClr val="dk1"/>
                </a:solidFill>
                <a:latin typeface="Chakra Petch"/>
                <a:ea typeface="Chakra Petch"/>
              </a:rPr>
              <a:t>VetCare 360</a:t>
            </a:r>
            <a:endParaRPr lang="fr-FR" sz="7500" b="0" strike="noStrike" spc="-1" dirty="0">
              <a:solidFill>
                <a:schemeClr val="dk1"/>
              </a:solidFill>
              <a:latin typeface="Arial"/>
            </a:endParaRPr>
          </a:p>
        </p:txBody>
      </p:sp>
      <p:sp>
        <p:nvSpPr>
          <p:cNvPr id="80" name="PlaceHolder 2"/>
          <p:cNvSpPr>
            <a:spLocks noGrp="1"/>
          </p:cNvSpPr>
          <p:nvPr>
            <p:ph type="subTitle"/>
          </p:nvPr>
        </p:nvSpPr>
        <p:spPr>
          <a:xfrm>
            <a:off x="447840" y="1628640"/>
            <a:ext cx="8248320" cy="46620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1800" b="0" strike="noStrike" spc="-1" dirty="0">
                <a:solidFill>
                  <a:schemeClr val="dk1"/>
                </a:solidFill>
                <a:latin typeface="SUSE"/>
                <a:ea typeface="SUSE"/>
              </a:rPr>
              <a:t>Gestion Moderne de Clinique Vétérinaire</a:t>
            </a:r>
            <a:endParaRPr lang="en-US" sz="1800" b="0" strike="noStrike" spc="-1" dirty="0">
              <a:solidFill>
                <a:srgbClr val="000000"/>
              </a:solidFill>
              <a:latin typeface="OpenSymbol"/>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barn(inVertical)">
                                      <p:cBhvr>
                                        <p:cTn id="7" dur="500"/>
                                        <p:tgtEl>
                                          <p:spTgt spid="7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0">
                                            <p:txEl>
                                              <p:pRg st="0" end="0"/>
                                            </p:txEl>
                                          </p:spTgt>
                                        </p:tgtEl>
                                        <p:attrNameLst>
                                          <p:attrName>style.visibility</p:attrName>
                                        </p:attrNameLst>
                                      </p:cBhvr>
                                      <p:to>
                                        <p:strVal val="visible"/>
                                      </p:to>
                                    </p:set>
                                    <p:anim calcmode="lin" valueType="num">
                                      <p:cBhvr additive="base">
                                        <p:cTn id="12" dur="500" fill="hold"/>
                                        <p:tgtEl>
                                          <p:spTgt spid="80">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0"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8DB7FB48-48B7-1897-DEA8-756FC851F8A9}"/>
              </a:ext>
            </a:extLst>
          </p:cNvPr>
          <p:cNvSpPr txBox="1"/>
          <p:nvPr/>
        </p:nvSpPr>
        <p:spPr>
          <a:xfrm>
            <a:off x="1657815" y="738503"/>
            <a:ext cx="7077306" cy="584775"/>
          </a:xfrm>
          <a:prstGeom prst="rect">
            <a:avLst/>
          </a:prstGeom>
          <a:noFill/>
        </p:spPr>
        <p:txBody>
          <a:bodyPr wrap="square" rtlCol="0">
            <a:spAutoFit/>
          </a:bodyPr>
          <a:lstStyle/>
          <a:p>
            <a:r>
              <a:rPr lang="es-ES" sz="3200" b="1" dirty="0"/>
              <a:t>Plan </a:t>
            </a:r>
            <a:endParaRPr lang="en-150" sz="3200" b="1" dirty="0"/>
          </a:p>
        </p:txBody>
      </p:sp>
      <p:sp>
        <p:nvSpPr>
          <p:cNvPr id="3" name="ZoneTexte 2">
            <a:extLst>
              <a:ext uri="{FF2B5EF4-FFF2-40B4-BE49-F238E27FC236}">
                <a16:creationId xmlns:a16="http://schemas.microsoft.com/office/drawing/2014/main" id="{66BCCFE9-EF9C-E4BC-30C0-F9294755E870}"/>
              </a:ext>
            </a:extLst>
          </p:cNvPr>
          <p:cNvSpPr txBox="1"/>
          <p:nvPr/>
        </p:nvSpPr>
        <p:spPr>
          <a:xfrm>
            <a:off x="3850888" y="1464527"/>
            <a:ext cx="5218771" cy="3416320"/>
          </a:xfrm>
          <a:prstGeom prst="rect">
            <a:avLst/>
          </a:prstGeom>
          <a:noFill/>
        </p:spPr>
        <p:txBody>
          <a:bodyPr wrap="square" rtlCol="0">
            <a:spAutoFit/>
          </a:bodyPr>
          <a:lstStyle/>
          <a:p>
            <a:pPr marL="285750" indent="-285750">
              <a:buFont typeface="Wingdings" panose="05000000000000000000" pitchFamily="2" charset="2"/>
              <a:buChar char="v"/>
            </a:pPr>
            <a:r>
              <a:rPr lang="fr-FR" dirty="0">
                <a:latin typeface="Bookman Old Style" panose="02050604050505020204" pitchFamily="18" charset="0"/>
              </a:rPr>
              <a:t>Introduction</a:t>
            </a:r>
          </a:p>
          <a:p>
            <a:pPr marL="285750" indent="-285750">
              <a:buFont typeface="Wingdings" panose="05000000000000000000" pitchFamily="2" charset="2"/>
              <a:buChar char="v"/>
            </a:pPr>
            <a:endParaRPr lang="fr-FR" dirty="0">
              <a:latin typeface="Bookman Old Style" panose="02050604050505020204" pitchFamily="18" charset="0"/>
            </a:endParaRPr>
          </a:p>
          <a:p>
            <a:pPr marL="285750" indent="-285750">
              <a:buFont typeface="Wingdings" panose="05000000000000000000" pitchFamily="2" charset="2"/>
              <a:buChar char="v"/>
            </a:pPr>
            <a:r>
              <a:rPr lang="fr-FR" dirty="0">
                <a:latin typeface="Bookman Old Style" panose="02050604050505020204" pitchFamily="18" charset="0"/>
              </a:rPr>
              <a:t>Problèmes</a:t>
            </a:r>
          </a:p>
          <a:p>
            <a:pPr marL="285750" indent="-285750">
              <a:buFont typeface="Wingdings" panose="05000000000000000000" pitchFamily="2" charset="2"/>
              <a:buChar char="v"/>
            </a:pPr>
            <a:endParaRPr lang="fr-FR" dirty="0">
              <a:latin typeface="Bookman Old Style" panose="02050604050505020204" pitchFamily="18" charset="0"/>
            </a:endParaRPr>
          </a:p>
          <a:p>
            <a:pPr marL="285750" indent="-285750">
              <a:buFont typeface="Wingdings" panose="05000000000000000000" pitchFamily="2" charset="2"/>
              <a:buChar char="v"/>
            </a:pPr>
            <a:r>
              <a:rPr lang="fr-FR" dirty="0">
                <a:latin typeface="Bookman Old Style" panose="02050604050505020204" pitchFamily="18" charset="0"/>
              </a:rPr>
              <a:t>Avantages de </a:t>
            </a:r>
            <a:r>
              <a:rPr lang="fr-FR" dirty="0" err="1">
                <a:latin typeface="Bookman Old Style" panose="02050604050505020204" pitchFamily="18" charset="0"/>
              </a:rPr>
              <a:t>VetCare</a:t>
            </a:r>
            <a:r>
              <a:rPr lang="fr-FR" dirty="0">
                <a:latin typeface="Bookman Old Style" panose="02050604050505020204" pitchFamily="18" charset="0"/>
              </a:rPr>
              <a:t> 360</a:t>
            </a:r>
          </a:p>
          <a:p>
            <a:pPr marL="285750" indent="-285750">
              <a:buFont typeface="Wingdings" panose="05000000000000000000" pitchFamily="2" charset="2"/>
              <a:buChar char="v"/>
            </a:pPr>
            <a:endParaRPr lang="fr-FR" dirty="0">
              <a:latin typeface="Bookman Old Style" panose="02050604050505020204" pitchFamily="18" charset="0"/>
            </a:endParaRPr>
          </a:p>
          <a:p>
            <a:pPr marL="285750" indent="-285750">
              <a:buFont typeface="Wingdings" panose="05000000000000000000" pitchFamily="2" charset="2"/>
              <a:buChar char="v"/>
            </a:pPr>
            <a:r>
              <a:rPr lang="fr-FR" dirty="0">
                <a:latin typeface="Bookman Old Style" panose="02050604050505020204" pitchFamily="18" charset="0"/>
              </a:rPr>
              <a:t>Présentation de l’application </a:t>
            </a:r>
            <a:r>
              <a:rPr lang="fr-FR" dirty="0" err="1">
                <a:latin typeface="Bookman Old Style" panose="02050604050505020204" pitchFamily="18" charset="0"/>
              </a:rPr>
              <a:t>VetCare</a:t>
            </a:r>
            <a:r>
              <a:rPr lang="fr-FR" dirty="0">
                <a:latin typeface="Bookman Old Style" panose="02050604050505020204" pitchFamily="18" charset="0"/>
              </a:rPr>
              <a:t> 360</a:t>
            </a:r>
          </a:p>
          <a:p>
            <a:pPr marL="285750" indent="-285750">
              <a:buFont typeface="Wingdings" panose="05000000000000000000" pitchFamily="2" charset="2"/>
              <a:buChar char="v"/>
            </a:pPr>
            <a:endParaRPr lang="fr-FR" dirty="0">
              <a:latin typeface="Bookman Old Style" panose="02050604050505020204" pitchFamily="18" charset="0"/>
            </a:endParaRPr>
          </a:p>
          <a:p>
            <a:pPr marL="285750" indent="-285750">
              <a:buFont typeface="Wingdings" panose="05000000000000000000" pitchFamily="2" charset="2"/>
              <a:buChar char="v"/>
            </a:pPr>
            <a:r>
              <a:rPr lang="fr-FR" dirty="0">
                <a:latin typeface="Bookman Old Style" panose="02050604050505020204" pitchFamily="18" charset="0"/>
              </a:rPr>
              <a:t>Architecture Technique</a:t>
            </a:r>
          </a:p>
          <a:p>
            <a:pPr marL="285750" indent="-285750">
              <a:buFont typeface="Wingdings" panose="05000000000000000000" pitchFamily="2" charset="2"/>
              <a:buChar char="v"/>
            </a:pPr>
            <a:endParaRPr lang="fr-FR" dirty="0">
              <a:latin typeface="Bookman Old Style" panose="02050604050505020204" pitchFamily="18" charset="0"/>
            </a:endParaRPr>
          </a:p>
          <a:p>
            <a:pPr marL="285750" indent="-285750">
              <a:buFont typeface="Wingdings" panose="05000000000000000000" pitchFamily="2" charset="2"/>
              <a:buChar char="v"/>
            </a:pPr>
            <a:r>
              <a:rPr lang="fr-FR" dirty="0">
                <a:latin typeface="Bookman Old Style" panose="02050604050505020204" pitchFamily="18" charset="0"/>
              </a:rPr>
              <a:t>Conclusion</a:t>
            </a:r>
          </a:p>
          <a:p>
            <a:endParaRPr lang="en-150" dirty="0"/>
          </a:p>
        </p:txBody>
      </p:sp>
    </p:spTree>
    <p:extLst>
      <p:ext uri="{BB962C8B-B14F-4D97-AF65-F5344CB8AC3E}">
        <p14:creationId xmlns:p14="http://schemas.microsoft.com/office/powerpoint/2010/main" val="376331531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
                                            <p:txEl>
                                              <p:pRg st="0" end="0"/>
                                            </p:txEl>
                                          </p:spTgt>
                                        </p:tgtEl>
                                      </p:cBhvr>
                                    </p:animEffect>
                                  </p:childTnLst>
                                </p:cTn>
                              </p:par>
                              <p:par>
                                <p:cTn id="17" presetID="53" presetClass="entr" presetSubtype="16"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3">
                                            <p:txEl>
                                              <p:pRg st="2" end="2"/>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p:cTn id="24"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5"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26" dur="500"/>
                                        <p:tgtEl>
                                          <p:spTgt spid="3">
                                            <p:txEl>
                                              <p:pRg st="4" end="4"/>
                                            </p:txEl>
                                          </p:spTgt>
                                        </p:tgtEl>
                                      </p:cBhvr>
                                    </p:animEffect>
                                  </p:childTnLst>
                                </p:cTn>
                              </p:par>
                              <p:par>
                                <p:cTn id="27" presetID="53" presetClass="entr" presetSubtype="16"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p:cTn id="29"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30"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31" dur="500"/>
                                        <p:tgtEl>
                                          <p:spTgt spid="3">
                                            <p:txEl>
                                              <p:pRg st="6" end="6"/>
                                            </p:txEl>
                                          </p:spTgt>
                                        </p:tgtEl>
                                      </p:cBhvr>
                                    </p:animEffect>
                                  </p:childTnLst>
                                </p:cTn>
                              </p:par>
                              <p:par>
                                <p:cTn id="32" presetID="53" presetClass="entr" presetSubtype="16"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 calcmode="lin" valueType="num">
                                      <p:cBhvr>
                                        <p:cTn id="34"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35"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36" dur="500"/>
                                        <p:tgtEl>
                                          <p:spTgt spid="3">
                                            <p:txEl>
                                              <p:pRg st="8" end="8"/>
                                            </p:txEl>
                                          </p:spTgt>
                                        </p:tgtEl>
                                      </p:cBhvr>
                                    </p:animEffect>
                                  </p:childTnLst>
                                </p:cTn>
                              </p:par>
                              <p:par>
                                <p:cTn id="37" presetID="53" presetClass="entr" presetSubtype="16"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p:cTn id="39" dur="5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40" dur="500" fill="hold"/>
                                        <p:tgtEl>
                                          <p:spTgt spid="3">
                                            <p:txEl>
                                              <p:pRg st="10" end="10"/>
                                            </p:txEl>
                                          </p:spTgt>
                                        </p:tgtEl>
                                        <p:attrNameLst>
                                          <p:attrName>ppt_h</p:attrName>
                                        </p:attrNameLst>
                                      </p:cBhvr>
                                      <p:tavLst>
                                        <p:tav tm="0">
                                          <p:val>
                                            <p:fltVal val="0"/>
                                          </p:val>
                                        </p:tav>
                                        <p:tav tm="100000">
                                          <p:val>
                                            <p:strVal val="#ppt_h"/>
                                          </p:val>
                                        </p:tav>
                                      </p:tavLst>
                                    </p:anim>
                                    <p:animEffect transition="in" filter="fade">
                                      <p:cBhvr>
                                        <p:cTn id="4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688552" y="506186"/>
            <a:ext cx="3624105" cy="1084057"/>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4000" b="1" strike="noStrike" spc="-1" dirty="0">
                <a:solidFill>
                  <a:schemeClr val="dk1"/>
                </a:solidFill>
                <a:latin typeface="Chakra Petch"/>
                <a:ea typeface="Chakra Petch"/>
              </a:rPr>
              <a:t>Introduction</a:t>
            </a:r>
            <a:endParaRPr lang="fr-FR" sz="4000" b="0" strike="noStrike" spc="-1" dirty="0">
              <a:solidFill>
                <a:schemeClr val="dk1"/>
              </a:solidFill>
              <a:latin typeface="Arial"/>
            </a:endParaRPr>
          </a:p>
        </p:txBody>
      </p:sp>
      <p:sp>
        <p:nvSpPr>
          <p:cNvPr id="82" name="PlaceHolder 2"/>
          <p:cNvSpPr>
            <a:spLocks noGrp="1"/>
          </p:cNvSpPr>
          <p:nvPr>
            <p:ph type="subTitle"/>
          </p:nvPr>
        </p:nvSpPr>
        <p:spPr>
          <a:xfrm>
            <a:off x="2500605" y="1749938"/>
            <a:ext cx="6162509" cy="2887376"/>
          </a:xfrm>
          <a:prstGeom prst="rect">
            <a:avLst/>
          </a:prstGeom>
          <a:noFill/>
          <a:ln w="0">
            <a:noFill/>
          </a:ln>
        </p:spPr>
        <p:txBody>
          <a:bodyPr lIns="91440" tIns="91440" rIns="91440" bIns="91440" anchor="t">
            <a:noAutofit/>
          </a:bodyPr>
          <a:lstStyle/>
          <a:p>
            <a:pPr indent="0" algn="just">
              <a:lnSpc>
                <a:spcPct val="100000"/>
              </a:lnSpc>
              <a:buNone/>
              <a:tabLst>
                <a:tab pos="0" algn="l"/>
              </a:tabLst>
            </a:pPr>
            <a:r>
              <a:rPr lang="en" sz="1800" b="0" strike="noStrike" spc="-1" dirty="0">
                <a:solidFill>
                  <a:schemeClr val="dk1"/>
                </a:solidFill>
                <a:latin typeface="Times New Roman" panose="02020603050405020304" pitchFamily="18" charset="0"/>
                <a:ea typeface="SUSE"/>
                <a:cs typeface="Times New Roman" panose="02020603050405020304" pitchFamily="18" charset="0"/>
              </a:rPr>
              <a:t>VetCare 360 est une application de bureau moderne conçue pour répondre aux besoins spécifiques des cliniques vétérinaires. Grâce à son interface conviviale et ses fonctionnalités complètes, elle simplifie la gestion des soins aux animaux, le suivi des dossiers médicaux et l’organisation des activités quotidiennes. Cette solution offre un véritable gain de temps et une meilleure coordination au sein des équipes vétérinaires.</a:t>
            </a:r>
            <a:endParaRPr lang="en-US" sz="18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barn(inVertical)">
                                      <p:cBhvr>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
                                            <p:txEl>
                                              <p:pRg st="0" end="0"/>
                                            </p:txEl>
                                          </p:spTgt>
                                        </p:tgtEl>
                                        <p:attrNameLst>
                                          <p:attrName>style.visibility</p:attrName>
                                        </p:attrNameLst>
                                      </p:cBhvr>
                                      <p:to>
                                        <p:strVal val="visible"/>
                                      </p:to>
                                    </p:set>
                                    <p:animEffect transition="in" filter="fade">
                                      <p:cBhvr>
                                        <p:cTn id="12" dur="500"/>
                                        <p:tgtEl>
                                          <p:spTgt spid="8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2"/>
          <p:cNvSpPr>
            <a:spLocks noGrp="1"/>
          </p:cNvSpPr>
          <p:nvPr>
            <p:ph type="title"/>
          </p:nvPr>
        </p:nvSpPr>
        <p:spPr>
          <a:xfrm>
            <a:off x="444500" y="905040"/>
            <a:ext cx="5622580" cy="29557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6000" b="1" strike="noStrike" spc="-1" dirty="0">
                <a:solidFill>
                  <a:schemeClr val="dk1"/>
                </a:solidFill>
                <a:latin typeface="Chakra Petch"/>
                <a:ea typeface="Chakra Petch"/>
              </a:rPr>
              <a:t>Problèmes</a:t>
            </a:r>
            <a:endParaRPr lang="fr-FR" sz="6000" b="0" strike="noStrike" spc="-1" dirty="0">
              <a:solidFill>
                <a:schemeClr val="dk1"/>
              </a:solidFill>
              <a:latin typeface="Arial"/>
            </a:endParaRPr>
          </a:p>
        </p:txBody>
      </p:sp>
      <p:sp>
        <p:nvSpPr>
          <p:cNvPr id="85" name="PlaceHolder 3"/>
          <p:cNvSpPr>
            <a:spLocks noGrp="1"/>
          </p:cNvSpPr>
          <p:nvPr>
            <p:ph type="title"/>
          </p:nvPr>
        </p:nvSpPr>
        <p:spPr>
          <a:xfrm>
            <a:off x="6657840" y="228600"/>
            <a:ext cx="2257200" cy="182844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10000" b="1" strike="noStrike" spc="-1">
                <a:solidFill>
                  <a:schemeClr val="dk1"/>
                </a:solidFill>
                <a:latin typeface="Chakra Petch"/>
                <a:ea typeface="Chakra Petch"/>
              </a:rPr>
              <a:t>01</a:t>
            </a:r>
            <a:endParaRPr lang="fr-FR" sz="10000" b="0" strike="noStrike" spc="-1">
              <a:solidFill>
                <a:schemeClr val="dk1"/>
              </a:solidFill>
              <a:latin typeface="Arial"/>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barn(inVertical)">
                                      <p:cBhvr>
                                        <p:cTn id="7"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723960" y="587420"/>
            <a:ext cx="8191080" cy="75204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1" strike="noStrike" spc="-1" dirty="0">
                <a:solidFill>
                  <a:schemeClr val="dk1"/>
                </a:solidFill>
                <a:latin typeface="Chakra Petch"/>
                <a:ea typeface="Chakra Petch"/>
              </a:rPr>
              <a:t>Gestion manuelle inefficace</a:t>
            </a:r>
            <a:endParaRPr lang="fr-FR" sz="4000" b="0" strike="noStrike" spc="-1" dirty="0">
              <a:solidFill>
                <a:schemeClr val="dk1"/>
              </a:solidFill>
              <a:latin typeface="Arial"/>
            </a:endParaRPr>
          </a:p>
        </p:txBody>
      </p:sp>
      <p:sp>
        <p:nvSpPr>
          <p:cNvPr id="87" name="PlaceHolder 2"/>
          <p:cNvSpPr>
            <a:spLocks noGrp="1"/>
          </p:cNvSpPr>
          <p:nvPr>
            <p:ph type="subTitle"/>
          </p:nvPr>
        </p:nvSpPr>
        <p:spPr>
          <a:xfrm>
            <a:off x="2438400" y="2051824"/>
            <a:ext cx="6476640" cy="1717288"/>
          </a:xfrm>
          <a:prstGeom prst="rect">
            <a:avLst/>
          </a:prstGeom>
          <a:noFill/>
          <a:ln w="0">
            <a:noFill/>
          </a:ln>
        </p:spPr>
        <p:txBody>
          <a:bodyPr lIns="91440" tIns="91440" rIns="91440" bIns="91440" anchor="t">
            <a:noAutofit/>
          </a:bodyPr>
          <a:lstStyle/>
          <a:p>
            <a:pPr indent="0" algn="just">
              <a:lnSpc>
                <a:spcPct val="150000"/>
              </a:lnSpc>
              <a:buNone/>
              <a:tabLst>
                <a:tab pos="0" algn="l"/>
              </a:tabLst>
            </a:pPr>
            <a:r>
              <a:rPr lang="en" sz="1800" spc="-1" dirty="0">
                <a:solidFill>
                  <a:schemeClr val="dk1"/>
                </a:solidFill>
                <a:latin typeface="Times New Roman" panose="02020603050405020304" pitchFamily="18" charset="0"/>
                <a:ea typeface="SUSE"/>
                <a:cs typeface="Times New Roman" panose="02020603050405020304" pitchFamily="18" charset="0"/>
              </a:rPr>
              <a:t>Les cliniques vétérinaires utilisant encore des méthodes papier ou des outils génériques rencontrent souvent des problèmes de lenteur, de perte d’informations et d’erreurs humaines. Le suivi des patients devient complexe et chronophage, réduisant ainsi la qualité du service.</a:t>
            </a:r>
            <a:endParaRPr lang="en-US" sz="1800" spc="-1" dirty="0">
              <a:solidFill>
                <a:schemeClr val="dk1"/>
              </a:solidFill>
              <a:latin typeface="Times New Roman" panose="02020603050405020304" pitchFamily="18" charset="0"/>
              <a:ea typeface="SUSE"/>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1000"/>
                                        <p:tgtEl>
                                          <p:spTgt spid="86"/>
                                        </p:tgtEl>
                                      </p:cBhvr>
                                    </p:animEffect>
                                    <p:anim calcmode="lin" valueType="num">
                                      <p:cBhvr>
                                        <p:cTn id="8" dur="1000" fill="hold"/>
                                        <p:tgtEl>
                                          <p:spTgt spid="86"/>
                                        </p:tgtEl>
                                        <p:attrNameLst>
                                          <p:attrName>ppt_x</p:attrName>
                                        </p:attrNameLst>
                                      </p:cBhvr>
                                      <p:tavLst>
                                        <p:tav tm="0">
                                          <p:val>
                                            <p:strVal val="#ppt_x"/>
                                          </p:val>
                                        </p:tav>
                                        <p:tav tm="100000">
                                          <p:val>
                                            <p:strVal val="#ppt_x"/>
                                          </p:val>
                                        </p:tav>
                                      </p:tavLst>
                                    </p:anim>
                                    <p:anim calcmode="lin" valueType="num">
                                      <p:cBhvr>
                                        <p:cTn id="9" dur="1000" fill="hold"/>
                                        <p:tgtEl>
                                          <p:spTgt spid="8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87">
                                            <p:txEl>
                                              <p:pRg st="0" end="0"/>
                                            </p:txEl>
                                          </p:spTgt>
                                        </p:tgtEl>
                                        <p:attrNameLst>
                                          <p:attrName>style.visibility</p:attrName>
                                        </p:attrNameLst>
                                      </p:cBhvr>
                                      <p:to>
                                        <p:strVal val="visible"/>
                                      </p:to>
                                    </p:set>
                                    <p:animEffect transition="in" filter="fade">
                                      <p:cBhvr>
                                        <p:cTn id="14" dur="500"/>
                                        <p:tgtEl>
                                          <p:spTgt spid="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4038480" y="228600"/>
            <a:ext cx="5938144" cy="1979341"/>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500" b="1" strike="noStrike" spc="-1" dirty="0">
                <a:solidFill>
                  <a:schemeClr val="dk1"/>
                </a:solidFill>
                <a:latin typeface="Chakra Petch"/>
                <a:ea typeface="Chakra Petch"/>
              </a:rPr>
              <a:t>Besoin de transformation numérique</a:t>
            </a:r>
            <a:endParaRPr lang="fr-FR" sz="3500" b="0" strike="noStrike" spc="-1" dirty="0">
              <a:solidFill>
                <a:schemeClr val="dk1"/>
              </a:solidFill>
              <a:latin typeface="Arial"/>
            </a:endParaRPr>
          </a:p>
        </p:txBody>
      </p:sp>
      <p:sp>
        <p:nvSpPr>
          <p:cNvPr id="89" name="PlaceHolder 2"/>
          <p:cNvSpPr>
            <a:spLocks noGrp="1"/>
          </p:cNvSpPr>
          <p:nvPr>
            <p:ph/>
          </p:nvPr>
        </p:nvSpPr>
        <p:spPr>
          <a:xfrm>
            <a:off x="4038480" y="2581200"/>
            <a:ext cx="4723920" cy="23331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000" b="0" strike="noStrike" spc="-1" dirty="0">
                <a:solidFill>
                  <a:schemeClr val="dk1"/>
                </a:solidFill>
                <a:latin typeface="SUSE"/>
                <a:ea typeface="SUSE"/>
              </a:rPr>
              <a:t>VetCare</a:t>
            </a:r>
            <a:r>
              <a:rPr lang="en" sz="1400" b="0" strike="noStrike" spc="-1" dirty="0">
                <a:solidFill>
                  <a:schemeClr val="dk1"/>
                </a:solidFill>
                <a:latin typeface="SUSE"/>
                <a:ea typeface="SUSE"/>
              </a:rPr>
              <a:t> </a:t>
            </a:r>
            <a:r>
              <a:rPr lang="en" sz="1600" spc="-1" dirty="0">
                <a:solidFill>
                  <a:schemeClr val="dk1"/>
                </a:solidFill>
                <a:latin typeface="Times New Roman" panose="02020603050405020304" pitchFamily="18" charset="0"/>
                <a:ea typeface="SUSE"/>
                <a:cs typeface="Times New Roman" panose="02020603050405020304" pitchFamily="18" charset="0"/>
              </a:rPr>
              <a:t>360 répond à ce besoin en proposant une solution logicielle de bureau moderne. Grâce à l’automatisation des dossiers, à la gestion centralisée des visites, et à la planification simplifiée des rendez-vous, cette application optimise le quotidien des vétérinaires et de leur équipe.</a:t>
            </a:r>
            <a:endParaRPr lang="fr-FR" sz="1800" spc="-1" dirty="0">
              <a:solidFill>
                <a:schemeClr val="dk1"/>
              </a:solidFill>
              <a:latin typeface="Times New Roman" panose="02020603050405020304" pitchFamily="18" charset="0"/>
              <a:ea typeface="SUSE"/>
              <a:cs typeface="Times New Roman" panose="02020603050405020304" pitchFamily="18" charset="0"/>
            </a:endParaRPr>
          </a:p>
        </p:txBody>
      </p:sp>
      <p:pic>
        <p:nvPicPr>
          <p:cNvPr id="90" name="Google Shape;169;p31"/>
          <p:cNvPicPr/>
          <p:nvPr/>
        </p:nvPicPr>
        <p:blipFill>
          <a:blip r:embed="rId2"/>
          <a:srcRect l="5779" t="1178" r="3530" b="9447"/>
          <a:stretch/>
        </p:blipFill>
        <p:spPr>
          <a:xfrm flipH="1">
            <a:off x="360" y="0"/>
            <a:ext cx="3914280" cy="5143320"/>
          </a:xfrm>
          <a:prstGeom prst="round2SameRect">
            <a:avLst>
              <a:gd name="adj1" fmla="val 50000"/>
              <a:gd name="adj2" fmla="val 0"/>
            </a:avLst>
          </a:prstGeom>
          <a:ln w="0">
            <a:noFill/>
          </a:ln>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1000"/>
                                        <p:tgtEl>
                                          <p:spTgt spid="88"/>
                                        </p:tgtEl>
                                      </p:cBhvr>
                                    </p:animEffect>
                                    <p:anim calcmode="lin" valueType="num">
                                      <p:cBhvr>
                                        <p:cTn id="8" dur="1000" fill="hold"/>
                                        <p:tgtEl>
                                          <p:spTgt spid="88"/>
                                        </p:tgtEl>
                                        <p:attrNameLst>
                                          <p:attrName>ppt_x</p:attrName>
                                        </p:attrNameLst>
                                      </p:cBhvr>
                                      <p:tavLst>
                                        <p:tav tm="0">
                                          <p:val>
                                            <p:strVal val="#ppt_x"/>
                                          </p:val>
                                        </p:tav>
                                        <p:tav tm="100000">
                                          <p:val>
                                            <p:strVal val="#ppt_x"/>
                                          </p:val>
                                        </p:tav>
                                      </p:tavLst>
                                    </p:anim>
                                    <p:anim calcmode="lin" valueType="num">
                                      <p:cBhvr>
                                        <p:cTn id="9" dur="1000" fill="hold"/>
                                        <p:tgtEl>
                                          <p:spTgt spid="8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89">
                                            <p:txEl>
                                              <p:pRg st="0" end="0"/>
                                            </p:txEl>
                                          </p:spTgt>
                                        </p:tgtEl>
                                        <p:attrNameLst>
                                          <p:attrName>style.visibility</p:attrName>
                                        </p:attrNameLst>
                                      </p:cBhvr>
                                      <p:to>
                                        <p:strVal val="visible"/>
                                      </p:to>
                                    </p:set>
                                    <p:animEffect transition="in" filter="fade">
                                      <p:cBhvr>
                                        <p:cTn id="14" dur="500"/>
                                        <p:tgtEl>
                                          <p:spTgt spid="8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subTitle"/>
          </p:nvPr>
        </p:nvSpPr>
        <p:spPr>
          <a:xfrm>
            <a:off x="228600" y="4191120"/>
            <a:ext cx="5838480" cy="723600"/>
          </a:xfrm>
          <a:prstGeom prst="rect">
            <a:avLst/>
          </a:prstGeom>
          <a:noFill/>
          <a:ln w="0">
            <a:noFill/>
          </a:ln>
        </p:spPr>
        <p:txBody>
          <a:bodyPr lIns="91440" tIns="91440" rIns="91440" bIns="91440" anchor="t">
            <a:normAutofit/>
          </a:bodyPr>
          <a:lstStyle/>
          <a:p>
            <a:pPr algn="ctr"/>
            <a:endParaRPr lang="en-US" sz="1600" b="0" strike="noStrike" spc="-1" dirty="0">
              <a:solidFill>
                <a:schemeClr val="dk1"/>
              </a:solidFill>
              <a:latin typeface="SUSE"/>
              <a:ea typeface="SUSE"/>
            </a:endParaRPr>
          </a:p>
        </p:txBody>
      </p:sp>
      <p:sp>
        <p:nvSpPr>
          <p:cNvPr id="92" name="PlaceHolder 2"/>
          <p:cNvSpPr>
            <a:spLocks noGrp="1"/>
          </p:cNvSpPr>
          <p:nvPr>
            <p:ph type="title"/>
          </p:nvPr>
        </p:nvSpPr>
        <p:spPr>
          <a:xfrm>
            <a:off x="508000" y="574840"/>
            <a:ext cx="5559080" cy="33620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6000" b="1" strike="noStrike" spc="-1" dirty="0">
                <a:solidFill>
                  <a:schemeClr val="dk1"/>
                </a:solidFill>
                <a:latin typeface="Chakra Petch"/>
                <a:ea typeface="Chakra Petch"/>
              </a:rPr>
              <a:t>Avantages de VetCare 360</a:t>
            </a:r>
            <a:endParaRPr lang="fr-FR" sz="6000" b="0" strike="noStrike" spc="-1" dirty="0">
              <a:solidFill>
                <a:schemeClr val="dk1"/>
              </a:solidFill>
              <a:latin typeface="Arial"/>
            </a:endParaRPr>
          </a:p>
        </p:txBody>
      </p:sp>
      <p:sp>
        <p:nvSpPr>
          <p:cNvPr id="93" name="PlaceHolder 3"/>
          <p:cNvSpPr>
            <a:spLocks noGrp="1"/>
          </p:cNvSpPr>
          <p:nvPr>
            <p:ph type="title"/>
          </p:nvPr>
        </p:nvSpPr>
        <p:spPr>
          <a:xfrm>
            <a:off x="6657840" y="228600"/>
            <a:ext cx="2257200" cy="182844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10000" b="1" strike="noStrike" spc="-1">
                <a:solidFill>
                  <a:schemeClr val="dk1"/>
                </a:solidFill>
                <a:latin typeface="Chakra Petch"/>
                <a:ea typeface="Chakra Petch"/>
              </a:rPr>
              <a:t>02</a:t>
            </a:r>
            <a:endParaRPr lang="fr-FR" sz="10000" b="0" strike="noStrike" spc="-1">
              <a:solidFill>
                <a:schemeClr val="dk1"/>
              </a:solidFill>
              <a:latin typeface="Arial"/>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barn(inVertical)">
                                      <p:cBhvr>
                                        <p:cTn id="7"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2"/>
          <p:cNvSpPr>
            <a:spLocks noGrp="1"/>
          </p:cNvSpPr>
          <p:nvPr>
            <p:ph/>
          </p:nvPr>
        </p:nvSpPr>
        <p:spPr>
          <a:xfrm>
            <a:off x="4144455" y="1534099"/>
            <a:ext cx="4723920" cy="2997858"/>
          </a:xfrm>
          <a:prstGeom prst="rect">
            <a:avLst/>
          </a:prstGeom>
          <a:noFill/>
          <a:ln w="0">
            <a:noFill/>
          </a:ln>
        </p:spPr>
        <p:txBody>
          <a:bodyPr lIns="91440" tIns="91440" rIns="91440" bIns="91440" anchor="t">
            <a:noAutofit/>
          </a:bodyPr>
          <a:lstStyle/>
          <a:p>
            <a:pPr marL="514350" indent="-285750">
              <a:spcBef>
                <a:spcPts val="1417"/>
              </a:spcBef>
              <a:buFont typeface="Wingdings" panose="05000000000000000000" pitchFamily="2" charset="2"/>
              <a:buChar char="q"/>
            </a:pPr>
            <a:r>
              <a:rPr lang="en" sz="1400" b="0" strike="noStrike" spc="-1" dirty="0">
                <a:solidFill>
                  <a:schemeClr val="dk1"/>
                </a:solidFill>
                <a:latin typeface="Bookman Old Style" panose="02050604050505020204" pitchFamily="18" charset="0"/>
                <a:ea typeface="SUSE"/>
              </a:rPr>
              <a:t>Meilleure efficacité dans la gestion des tâches quotidiennes.</a:t>
            </a:r>
            <a:endParaRPr lang="fr-FR" sz="1400" b="0" strike="noStrike" spc="-1" dirty="0">
              <a:solidFill>
                <a:srgbClr val="000000"/>
              </a:solidFill>
              <a:latin typeface="Bookman Old Style" panose="02050604050505020204" pitchFamily="18" charset="0"/>
            </a:endParaRPr>
          </a:p>
          <a:p>
            <a:pPr marL="514350" indent="-285750">
              <a:spcBef>
                <a:spcPts val="1417"/>
              </a:spcBef>
              <a:buFont typeface="Wingdings" panose="05000000000000000000" pitchFamily="2" charset="2"/>
              <a:buChar char="q"/>
            </a:pPr>
            <a:r>
              <a:rPr lang="en" sz="1400" b="0" strike="noStrike" spc="-1" dirty="0">
                <a:solidFill>
                  <a:schemeClr val="dk1"/>
                </a:solidFill>
                <a:latin typeface="Bookman Old Style" panose="02050604050505020204" pitchFamily="18" charset="0"/>
                <a:ea typeface="SUSE"/>
              </a:rPr>
              <a:t> Réduction significative de la charge administrative.</a:t>
            </a:r>
            <a:endParaRPr lang="fr-FR" sz="1400" b="0" strike="noStrike" spc="-1" dirty="0">
              <a:solidFill>
                <a:srgbClr val="000000"/>
              </a:solidFill>
              <a:latin typeface="Bookman Old Style" panose="02050604050505020204" pitchFamily="18" charset="0"/>
            </a:endParaRPr>
          </a:p>
          <a:p>
            <a:pPr marL="514350" indent="-285750">
              <a:spcBef>
                <a:spcPts val="1417"/>
              </a:spcBef>
              <a:buFont typeface="Wingdings" panose="05000000000000000000" pitchFamily="2" charset="2"/>
              <a:buChar char="q"/>
            </a:pPr>
            <a:r>
              <a:rPr lang="en" sz="1400" b="0" strike="noStrike" spc="-1" dirty="0">
                <a:solidFill>
                  <a:schemeClr val="dk1"/>
                </a:solidFill>
                <a:latin typeface="Bookman Old Style" panose="02050604050505020204" pitchFamily="18" charset="0"/>
                <a:ea typeface="SUSE"/>
              </a:rPr>
              <a:t>Suivi numérique complet des dossiers des animaux.</a:t>
            </a:r>
            <a:endParaRPr lang="fr-FR" sz="1400" b="0" strike="noStrike" spc="-1" dirty="0">
              <a:solidFill>
                <a:srgbClr val="000000"/>
              </a:solidFill>
              <a:latin typeface="Bookman Old Style" panose="02050604050505020204" pitchFamily="18" charset="0"/>
            </a:endParaRPr>
          </a:p>
          <a:p>
            <a:pPr marL="514350" indent="-285750">
              <a:spcBef>
                <a:spcPts val="1417"/>
              </a:spcBef>
              <a:buFont typeface="Wingdings" panose="05000000000000000000" pitchFamily="2" charset="2"/>
              <a:buChar char="q"/>
            </a:pPr>
            <a:r>
              <a:rPr lang="en" sz="1400" b="0" strike="noStrike" spc="-1" dirty="0">
                <a:solidFill>
                  <a:schemeClr val="dk1"/>
                </a:solidFill>
                <a:latin typeface="Bookman Old Style" panose="02050604050505020204" pitchFamily="18" charset="0"/>
                <a:ea typeface="SUSE"/>
              </a:rPr>
              <a:t> Centralisation et sécurisation des données.</a:t>
            </a:r>
            <a:endParaRPr lang="fr-FR" sz="1400" b="0" strike="noStrike" spc="-1" dirty="0">
              <a:solidFill>
                <a:srgbClr val="000000"/>
              </a:solidFill>
              <a:latin typeface="Bookman Old Style" panose="02050604050505020204" pitchFamily="18" charset="0"/>
            </a:endParaRPr>
          </a:p>
          <a:p>
            <a:pPr marL="514350" indent="-285750">
              <a:lnSpc>
                <a:spcPct val="100000"/>
              </a:lnSpc>
              <a:buFont typeface="Wingdings" panose="05000000000000000000" pitchFamily="2" charset="2"/>
              <a:buChar char="q"/>
              <a:tabLst>
                <a:tab pos="0" algn="l"/>
              </a:tabLst>
            </a:pPr>
            <a:r>
              <a:rPr lang="en" sz="1400" b="0" strike="noStrike" spc="-1" dirty="0">
                <a:solidFill>
                  <a:schemeClr val="dk1"/>
                </a:solidFill>
                <a:latin typeface="Bookman Old Style" panose="02050604050505020204" pitchFamily="18" charset="0"/>
                <a:ea typeface="SUSE"/>
              </a:rPr>
              <a:t> Amélioration de l’expérience client et du confort du personnel.</a:t>
            </a:r>
            <a:endParaRPr lang="fr-FR" sz="1400" b="0" strike="noStrike" spc="-1" dirty="0">
              <a:solidFill>
                <a:srgbClr val="000000"/>
              </a:solidFill>
              <a:latin typeface="Bookman Old Style" panose="02050604050505020204" pitchFamily="18" charset="0"/>
            </a:endParaRPr>
          </a:p>
        </p:txBody>
      </p:sp>
      <p:pic>
        <p:nvPicPr>
          <p:cNvPr id="96" name="Google Shape;169;p31"/>
          <p:cNvPicPr/>
          <p:nvPr/>
        </p:nvPicPr>
        <p:blipFill>
          <a:blip r:embed="rId2"/>
          <a:srcRect l="5779" t="1178" r="3530" b="9447"/>
          <a:stretch/>
        </p:blipFill>
        <p:spPr>
          <a:xfrm>
            <a:off x="0" y="0"/>
            <a:ext cx="3914640" cy="5143320"/>
          </a:xfrm>
          <a:prstGeom prst="flowChartDelay">
            <a:avLst/>
          </a:prstGeom>
          <a:ln w="0">
            <a:noFill/>
          </a:ln>
        </p:spPr>
      </p:pic>
      <p:pic>
        <p:nvPicPr>
          <p:cNvPr id="7" name="Graphic 6" descr="Chemicals outline">
            <a:extLst>
              <a:ext uri="{FF2B5EF4-FFF2-40B4-BE49-F238E27FC236}">
                <a16:creationId xmlns:a16="http://schemas.microsoft.com/office/drawing/2014/main" id="{D9CA56D2-D15F-9F4C-7A4F-75F7CFFD33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4550" y="299927"/>
            <a:ext cx="914400" cy="9144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 calcmode="lin" valueType="num">
                                      <p:cBhvr>
                                        <p:cTn id="7" dur="500" fill="hold"/>
                                        <p:tgtEl>
                                          <p:spTgt spid="9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5">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95">
                                            <p:txEl>
                                              <p:pRg st="1" end="1"/>
                                            </p:txEl>
                                          </p:spTgt>
                                        </p:tgtEl>
                                        <p:attrNameLst>
                                          <p:attrName>style.visibility</p:attrName>
                                        </p:attrNameLst>
                                      </p:cBhvr>
                                      <p:to>
                                        <p:strVal val="visible"/>
                                      </p:to>
                                    </p:set>
                                    <p:anim calcmode="lin" valueType="num">
                                      <p:cBhvr>
                                        <p:cTn id="12" dur="500" fill="hold"/>
                                        <p:tgtEl>
                                          <p:spTgt spid="95">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95">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95">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95">
                                            <p:txEl>
                                              <p:pRg st="2" end="2"/>
                                            </p:txEl>
                                          </p:spTgt>
                                        </p:tgtEl>
                                        <p:attrNameLst>
                                          <p:attrName>style.visibility</p:attrName>
                                        </p:attrNameLst>
                                      </p:cBhvr>
                                      <p:to>
                                        <p:strVal val="visible"/>
                                      </p:to>
                                    </p:set>
                                    <p:anim calcmode="lin" valueType="num">
                                      <p:cBhvr>
                                        <p:cTn id="17" dur="500" fill="hold"/>
                                        <p:tgtEl>
                                          <p:spTgt spid="95">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95">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95">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95">
                                            <p:txEl>
                                              <p:pRg st="3" end="3"/>
                                            </p:txEl>
                                          </p:spTgt>
                                        </p:tgtEl>
                                        <p:attrNameLst>
                                          <p:attrName>style.visibility</p:attrName>
                                        </p:attrNameLst>
                                      </p:cBhvr>
                                      <p:to>
                                        <p:strVal val="visible"/>
                                      </p:to>
                                    </p:set>
                                    <p:anim calcmode="lin" valueType="num">
                                      <p:cBhvr>
                                        <p:cTn id="22" dur="500" fill="hold"/>
                                        <p:tgtEl>
                                          <p:spTgt spid="95">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95">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95">
                                            <p:txEl>
                                              <p:pRg st="3" end="3"/>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95">
                                            <p:txEl>
                                              <p:pRg st="4" end="4"/>
                                            </p:txEl>
                                          </p:spTgt>
                                        </p:tgtEl>
                                        <p:attrNameLst>
                                          <p:attrName>style.visibility</p:attrName>
                                        </p:attrNameLst>
                                      </p:cBhvr>
                                      <p:to>
                                        <p:strVal val="visible"/>
                                      </p:to>
                                    </p:set>
                                    <p:anim calcmode="lin" valueType="num">
                                      <p:cBhvr>
                                        <p:cTn id="27" dur="500" fill="hold"/>
                                        <p:tgtEl>
                                          <p:spTgt spid="95">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95">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2"/>
          <p:cNvSpPr>
            <a:spLocks noGrp="1"/>
          </p:cNvSpPr>
          <p:nvPr>
            <p:ph type="title"/>
          </p:nvPr>
        </p:nvSpPr>
        <p:spPr>
          <a:xfrm>
            <a:off x="495300" y="574840"/>
            <a:ext cx="5308600" cy="33620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6000" b="1" strike="noStrike" spc="-1" dirty="0">
                <a:solidFill>
                  <a:schemeClr val="dk1"/>
                </a:solidFill>
                <a:latin typeface="Chakra Petch"/>
                <a:ea typeface="Chakra Petch"/>
              </a:rPr>
              <a:t>Architecture Technique</a:t>
            </a:r>
            <a:endParaRPr lang="fr-FR" sz="6000" b="0" strike="noStrike" spc="-1" dirty="0">
              <a:solidFill>
                <a:schemeClr val="dk1"/>
              </a:solidFill>
              <a:latin typeface="Arial"/>
            </a:endParaRPr>
          </a:p>
        </p:txBody>
      </p:sp>
      <p:sp>
        <p:nvSpPr>
          <p:cNvPr id="99" name="PlaceHolder 3"/>
          <p:cNvSpPr>
            <a:spLocks noGrp="1"/>
          </p:cNvSpPr>
          <p:nvPr>
            <p:ph type="title"/>
          </p:nvPr>
        </p:nvSpPr>
        <p:spPr>
          <a:xfrm>
            <a:off x="6657840" y="228600"/>
            <a:ext cx="2257200" cy="182844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10000" b="1" strike="noStrike" spc="-1">
                <a:solidFill>
                  <a:schemeClr val="dk1"/>
                </a:solidFill>
                <a:latin typeface="Chakra Petch"/>
                <a:ea typeface="Chakra Petch"/>
              </a:rPr>
              <a:t>03</a:t>
            </a:r>
            <a:endParaRPr lang="fr-FR" sz="10000" b="0" strike="noStrike" spc="-1">
              <a:solidFill>
                <a:schemeClr val="dk1"/>
              </a:solidFill>
              <a:latin typeface="Arial"/>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barn(inVertical)">
                                      <p:cBhvr>
                                        <p:cTn id="7"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2"/>
          <p:cNvSpPr>
            <a:spLocks noGrp="1"/>
          </p:cNvSpPr>
          <p:nvPr>
            <p:ph/>
          </p:nvPr>
        </p:nvSpPr>
        <p:spPr>
          <a:xfrm>
            <a:off x="4062874" y="1642601"/>
            <a:ext cx="4723920" cy="2371725"/>
          </a:xfrm>
          <a:prstGeom prst="rect">
            <a:avLst/>
          </a:prstGeom>
          <a:noFill/>
          <a:ln w="0">
            <a:noFill/>
          </a:ln>
        </p:spPr>
        <p:txBody>
          <a:bodyPr lIns="91440" tIns="91440" rIns="91440" bIns="91440" anchor="t">
            <a:noAutofit/>
          </a:bodyPr>
          <a:lstStyle/>
          <a:p>
            <a:pPr indent="0" algn="just">
              <a:lnSpc>
                <a:spcPct val="150000"/>
              </a:lnSpc>
              <a:buNone/>
              <a:tabLst>
                <a:tab pos="0" algn="l"/>
              </a:tabLst>
            </a:pPr>
            <a:r>
              <a:rPr lang="en" sz="1600" b="1" spc="-1" dirty="0">
                <a:solidFill>
                  <a:schemeClr val="dk1"/>
                </a:solidFill>
                <a:latin typeface="Bookman Old Style" panose="02050604050505020204" pitchFamily="18" charset="0"/>
                <a:ea typeface="SUSE"/>
              </a:rPr>
              <a:t>VetCare 360 </a:t>
            </a:r>
            <a:r>
              <a:rPr lang="en" sz="1400" spc="-1" dirty="0">
                <a:solidFill>
                  <a:schemeClr val="dk1"/>
                </a:solidFill>
                <a:latin typeface="Bookman Old Style" panose="02050604050505020204" pitchFamily="18" charset="0"/>
                <a:ea typeface="SUSE"/>
              </a:rPr>
              <a:t>repose sur une architecture desktop robuste utilisant Java pour la logique applicative et JavaFX pour l’interface utilisateur graphique. Cette combinaison offre une expérience fluide, rapide et multiplateforme.</a:t>
            </a:r>
            <a:endParaRPr lang="fr-FR" sz="1400" spc="-1" dirty="0">
              <a:solidFill>
                <a:schemeClr val="dk1"/>
              </a:solidFill>
              <a:latin typeface="Bookman Old Style" panose="02050604050505020204" pitchFamily="18" charset="0"/>
              <a:ea typeface="SUSE"/>
            </a:endParaRPr>
          </a:p>
        </p:txBody>
      </p:sp>
      <p:pic>
        <p:nvPicPr>
          <p:cNvPr id="102" name="Google Shape;169;p31"/>
          <p:cNvPicPr/>
          <p:nvPr/>
        </p:nvPicPr>
        <p:blipFill>
          <a:blip r:embed="rId2"/>
          <a:srcRect l="5779" t="1178" r="3530" b="9447"/>
          <a:stretch/>
        </p:blipFill>
        <p:spPr>
          <a:xfrm>
            <a:off x="360" y="0"/>
            <a:ext cx="3914280" cy="5143320"/>
          </a:xfrm>
          <a:prstGeom prst="homePlate">
            <a:avLst/>
          </a:prstGeom>
          <a:ln w="0">
            <a:noFill/>
          </a:ln>
        </p:spPr>
      </p:pic>
      <p:pic>
        <p:nvPicPr>
          <p:cNvPr id="3" name="Graphic 2" descr="Completed outline">
            <a:extLst>
              <a:ext uri="{FF2B5EF4-FFF2-40B4-BE49-F238E27FC236}">
                <a16:creationId xmlns:a16="http://schemas.microsoft.com/office/drawing/2014/main" id="{459DAC66-0896-CEDB-6182-CDF0814052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24724" y="561975"/>
            <a:ext cx="1080626" cy="108062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xEl>
                                              <p:pRg st="0" end="0"/>
                                            </p:txEl>
                                          </p:spTgt>
                                        </p:tgtEl>
                                        <p:attrNameLst>
                                          <p:attrName>style.visibility</p:attrName>
                                        </p:attrNameLst>
                                      </p:cBhvr>
                                      <p:to>
                                        <p:strVal val="visible"/>
                                      </p:to>
                                    </p:set>
                                    <p:animEffect transition="in" filter="fade">
                                      <p:cBhvr>
                                        <p:cTn id="7" dur="500"/>
                                        <p:tgtEl>
                                          <p:spTgt spid="10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laceHolder 2"/>
          <p:cNvSpPr>
            <a:spLocks noGrp="1"/>
          </p:cNvSpPr>
          <p:nvPr>
            <p:ph type="title"/>
          </p:nvPr>
        </p:nvSpPr>
        <p:spPr>
          <a:xfrm>
            <a:off x="304815" y="829080"/>
            <a:ext cx="5838480" cy="33620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6000" b="1" strike="noStrike" spc="-1" dirty="0">
                <a:solidFill>
                  <a:schemeClr val="dk1"/>
                </a:solidFill>
                <a:latin typeface="Chakra Petch"/>
                <a:ea typeface="Chakra Petch"/>
              </a:rPr>
              <a:t>Présentation de l’application VetCare 360</a:t>
            </a:r>
            <a:endParaRPr lang="fr-FR" sz="6000" b="0" strike="noStrike" spc="-1" dirty="0">
              <a:solidFill>
                <a:schemeClr val="dk1"/>
              </a:solidFill>
              <a:latin typeface="Arial"/>
            </a:endParaRPr>
          </a:p>
        </p:txBody>
      </p:sp>
      <p:sp>
        <p:nvSpPr>
          <p:cNvPr id="105" name="PlaceHolder 3"/>
          <p:cNvSpPr>
            <a:spLocks noGrp="1"/>
          </p:cNvSpPr>
          <p:nvPr>
            <p:ph type="title"/>
          </p:nvPr>
        </p:nvSpPr>
        <p:spPr>
          <a:xfrm>
            <a:off x="6591165" y="228600"/>
            <a:ext cx="2257200" cy="182844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 sz="10000" b="1" strike="noStrike" spc="-1" dirty="0">
                <a:solidFill>
                  <a:schemeClr val="dk1"/>
                </a:solidFill>
                <a:latin typeface="Chakra Petch"/>
                <a:ea typeface="Chakra Petch"/>
              </a:rPr>
              <a:t>04</a:t>
            </a:r>
            <a:endParaRPr lang="fr-FR" sz="10000" b="0" strike="noStrike" spc="-1" dirty="0">
              <a:solidFill>
                <a:schemeClr val="dk1"/>
              </a:solidFill>
              <a:latin typeface="Arial"/>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barn(inVertical)">
                                      <p:cBhvr>
                                        <p:cTn id="7"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2"/>
          <p:cNvSpPr>
            <a:spLocks noGrp="1"/>
          </p:cNvSpPr>
          <p:nvPr>
            <p:ph/>
          </p:nvPr>
        </p:nvSpPr>
        <p:spPr>
          <a:xfrm>
            <a:off x="4038480" y="587829"/>
            <a:ext cx="4723920" cy="4264089"/>
          </a:xfrm>
          <a:prstGeom prst="rect">
            <a:avLst/>
          </a:prstGeom>
          <a:noFill/>
          <a:ln w="0">
            <a:noFill/>
          </a:ln>
        </p:spPr>
        <p:txBody>
          <a:bodyPr lIns="91440" tIns="91440" rIns="91440" bIns="91440" anchor="t">
            <a:noAutofit/>
          </a:bodyPr>
          <a:lstStyle/>
          <a:p>
            <a:pPr indent="0">
              <a:spcBef>
                <a:spcPts val="1417"/>
              </a:spcBef>
              <a:buNone/>
            </a:pPr>
            <a:endParaRPr lang="en" sz="1400" b="1" spc="-1" dirty="0">
              <a:solidFill>
                <a:schemeClr val="dk1"/>
              </a:solidFill>
              <a:latin typeface="SUSE"/>
              <a:ea typeface="SUSE"/>
            </a:endParaRPr>
          </a:p>
          <a:p>
            <a:pPr marL="514350" indent="-285750">
              <a:lnSpc>
                <a:spcPct val="150000"/>
              </a:lnSpc>
              <a:spcBef>
                <a:spcPts val="1417"/>
              </a:spcBef>
              <a:buFont typeface="Wingdings" panose="05000000000000000000" pitchFamily="2" charset="2"/>
              <a:buChar char="q"/>
            </a:pPr>
            <a:r>
              <a:rPr lang="en" sz="1400" spc="-1" dirty="0">
                <a:solidFill>
                  <a:schemeClr val="dk1"/>
                </a:solidFill>
                <a:latin typeface="Bookman Old Style" panose="02050604050505020204" pitchFamily="18" charset="0"/>
                <a:ea typeface="SUSE"/>
              </a:rPr>
              <a:t>L’ajout, la modification et le suivi des fiches patients (animaux).</a:t>
            </a:r>
            <a:endParaRPr lang="fr-FR" sz="1400" spc="-1" dirty="0">
              <a:solidFill>
                <a:schemeClr val="dk1"/>
              </a:solidFill>
              <a:latin typeface="Bookman Old Style" panose="02050604050505020204" pitchFamily="18" charset="0"/>
              <a:ea typeface="SUSE"/>
            </a:endParaRPr>
          </a:p>
          <a:p>
            <a:pPr marL="514350" indent="-285750">
              <a:lnSpc>
                <a:spcPct val="150000"/>
              </a:lnSpc>
              <a:spcBef>
                <a:spcPts val="1417"/>
              </a:spcBef>
              <a:buFont typeface="Wingdings" panose="05000000000000000000" pitchFamily="2" charset="2"/>
              <a:buChar char="q"/>
            </a:pPr>
            <a:r>
              <a:rPr lang="en" sz="1400" spc="-1" dirty="0">
                <a:solidFill>
                  <a:schemeClr val="dk1"/>
                </a:solidFill>
                <a:latin typeface="Bookman Old Style" panose="02050604050505020204" pitchFamily="18" charset="0"/>
                <a:ea typeface="SUSE"/>
              </a:rPr>
              <a:t>La gestion des rendez-vous et des consultations.</a:t>
            </a:r>
            <a:endParaRPr lang="fr-FR" sz="1400" spc="-1" dirty="0">
              <a:solidFill>
                <a:schemeClr val="dk1"/>
              </a:solidFill>
              <a:latin typeface="Bookman Old Style" panose="02050604050505020204" pitchFamily="18" charset="0"/>
              <a:ea typeface="SUSE"/>
            </a:endParaRPr>
          </a:p>
          <a:p>
            <a:pPr marL="514350" indent="-285750">
              <a:lnSpc>
                <a:spcPct val="150000"/>
              </a:lnSpc>
              <a:spcBef>
                <a:spcPts val="1417"/>
              </a:spcBef>
              <a:buFont typeface="Wingdings" panose="05000000000000000000" pitchFamily="2" charset="2"/>
              <a:buChar char="q"/>
            </a:pPr>
            <a:r>
              <a:rPr lang="en" sz="1400" spc="-1" dirty="0">
                <a:solidFill>
                  <a:schemeClr val="dk1"/>
                </a:solidFill>
                <a:latin typeface="Bookman Old Style" panose="02050604050505020204" pitchFamily="18" charset="0"/>
                <a:ea typeface="SUSE"/>
              </a:rPr>
              <a:t>La tenue d’historiques médicaux détaillés.</a:t>
            </a:r>
            <a:endParaRPr lang="fr-FR" sz="1400" spc="-1" dirty="0">
              <a:solidFill>
                <a:schemeClr val="dk1"/>
              </a:solidFill>
              <a:latin typeface="Bookman Old Style" panose="02050604050505020204" pitchFamily="18" charset="0"/>
              <a:ea typeface="SUSE"/>
            </a:endParaRPr>
          </a:p>
          <a:p>
            <a:pPr marL="514350" indent="-285750">
              <a:lnSpc>
                <a:spcPct val="150000"/>
              </a:lnSpc>
              <a:spcBef>
                <a:spcPts val="1417"/>
              </a:spcBef>
              <a:buFont typeface="Wingdings" panose="05000000000000000000" pitchFamily="2" charset="2"/>
              <a:buChar char="q"/>
            </a:pPr>
            <a:r>
              <a:rPr lang="en" sz="1400" spc="-1" dirty="0">
                <a:solidFill>
                  <a:schemeClr val="dk1"/>
                </a:solidFill>
                <a:latin typeface="Bookman Old Style" panose="02050604050505020204" pitchFamily="18" charset="0"/>
                <a:ea typeface="SUSE"/>
              </a:rPr>
              <a:t>L’exportation de données et la génération de rapports.</a:t>
            </a:r>
            <a:endParaRPr lang="fr-FR" sz="1400" spc="-1" dirty="0">
              <a:solidFill>
                <a:schemeClr val="dk1"/>
              </a:solidFill>
              <a:latin typeface="Bookman Old Style" panose="02050604050505020204" pitchFamily="18" charset="0"/>
              <a:ea typeface="SUSE"/>
            </a:endParaRPr>
          </a:p>
          <a:p>
            <a:pPr marL="514350" indent="-285750">
              <a:lnSpc>
                <a:spcPct val="150000"/>
              </a:lnSpc>
              <a:buFont typeface="Wingdings" panose="05000000000000000000" pitchFamily="2" charset="2"/>
              <a:buChar char="q"/>
              <a:tabLst>
                <a:tab pos="0" algn="l"/>
              </a:tabLst>
            </a:pPr>
            <a:r>
              <a:rPr lang="en" sz="1400" spc="-1" dirty="0">
                <a:solidFill>
                  <a:schemeClr val="dk1"/>
                </a:solidFill>
                <a:latin typeface="Bookman Old Style" panose="02050604050505020204" pitchFamily="18" charset="0"/>
                <a:ea typeface="SUSE"/>
              </a:rPr>
              <a:t>Une interface ergonomique adaptée aux besoins du personnel vétérinaire.</a:t>
            </a:r>
            <a:endParaRPr lang="fr-FR" sz="1400" spc="-1" dirty="0">
              <a:solidFill>
                <a:schemeClr val="dk1"/>
              </a:solidFill>
              <a:latin typeface="Bookman Old Style" panose="02050604050505020204" pitchFamily="18" charset="0"/>
              <a:ea typeface="SUSE"/>
            </a:endParaRPr>
          </a:p>
        </p:txBody>
      </p:sp>
      <p:pic>
        <p:nvPicPr>
          <p:cNvPr id="108" name="Google Shape;169;p31"/>
          <p:cNvPicPr/>
          <p:nvPr/>
        </p:nvPicPr>
        <p:blipFill>
          <a:blip r:embed="rId2"/>
          <a:srcRect l="5779" t="1178" r="3530" b="9447"/>
          <a:stretch/>
        </p:blipFill>
        <p:spPr>
          <a:xfrm flipH="1">
            <a:off x="360" y="0"/>
            <a:ext cx="3914280" cy="5143320"/>
          </a:xfrm>
          <a:prstGeom prst="round2DiagRect">
            <a:avLst>
              <a:gd name="adj1" fmla="val 41974"/>
              <a:gd name="adj2" fmla="val 0"/>
            </a:avLst>
          </a:prstGeom>
          <a:ln w="0">
            <a:noFill/>
          </a:ln>
        </p:spPr>
      </p:pic>
      <p:sp>
        <p:nvSpPr>
          <p:cNvPr id="3" name="TextBox 2">
            <a:extLst>
              <a:ext uri="{FF2B5EF4-FFF2-40B4-BE49-F238E27FC236}">
                <a16:creationId xmlns:a16="http://schemas.microsoft.com/office/drawing/2014/main" id="{113EAED0-6F0F-C3CF-5972-A3CAE23D456B}"/>
              </a:ext>
            </a:extLst>
          </p:cNvPr>
          <p:cNvSpPr txBox="1"/>
          <p:nvPr/>
        </p:nvSpPr>
        <p:spPr>
          <a:xfrm>
            <a:off x="3890505" y="162644"/>
            <a:ext cx="5019870" cy="677108"/>
          </a:xfrm>
          <a:prstGeom prst="rect">
            <a:avLst/>
          </a:prstGeom>
          <a:noFill/>
        </p:spPr>
        <p:txBody>
          <a:bodyPr wrap="square">
            <a:spAutoFit/>
          </a:bodyPr>
          <a:lstStyle/>
          <a:p>
            <a:pPr indent="0" algn="just">
              <a:spcBef>
                <a:spcPts val="1417"/>
              </a:spcBef>
              <a:buNone/>
            </a:pPr>
            <a:r>
              <a:rPr lang="en" sz="1900" b="1" spc="-1" dirty="0">
                <a:solidFill>
                  <a:schemeClr val="dk1"/>
                </a:solidFill>
                <a:latin typeface="SUSE"/>
                <a:ea typeface="SUSE"/>
              </a:rPr>
              <a:t>VetCare 360 est une application intuitive qui        permet : </a:t>
            </a:r>
            <a:endParaRPr lang="fr-FR" sz="1900" b="1" spc="-1" dirty="0">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7">
                                            <p:txEl>
                                              <p:pRg st="1" end="1"/>
                                            </p:txEl>
                                          </p:spTgt>
                                        </p:tgtEl>
                                        <p:attrNameLst>
                                          <p:attrName>style.visibility</p:attrName>
                                        </p:attrNameLst>
                                      </p:cBhvr>
                                      <p:to>
                                        <p:strVal val="visible"/>
                                      </p:to>
                                    </p:set>
                                    <p:anim calcmode="lin" valueType="num">
                                      <p:cBhvr>
                                        <p:cTn id="7" dur="500" fill="hold"/>
                                        <p:tgtEl>
                                          <p:spTgt spid="10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0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07">
                                            <p:txEl>
                                              <p:pRg st="1" end="1"/>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07">
                                            <p:txEl>
                                              <p:pRg st="2" end="2"/>
                                            </p:txEl>
                                          </p:spTgt>
                                        </p:tgtEl>
                                        <p:attrNameLst>
                                          <p:attrName>style.visibility</p:attrName>
                                        </p:attrNameLst>
                                      </p:cBhvr>
                                      <p:to>
                                        <p:strVal val="visible"/>
                                      </p:to>
                                    </p:set>
                                    <p:anim calcmode="lin" valueType="num">
                                      <p:cBhvr>
                                        <p:cTn id="12" dur="500" fill="hold"/>
                                        <p:tgtEl>
                                          <p:spTgt spid="107">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107">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107">
                                            <p:txEl>
                                              <p:pRg st="2" end="2"/>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107">
                                            <p:txEl>
                                              <p:pRg st="3" end="3"/>
                                            </p:txEl>
                                          </p:spTgt>
                                        </p:tgtEl>
                                        <p:attrNameLst>
                                          <p:attrName>style.visibility</p:attrName>
                                        </p:attrNameLst>
                                      </p:cBhvr>
                                      <p:to>
                                        <p:strVal val="visible"/>
                                      </p:to>
                                    </p:set>
                                    <p:anim calcmode="lin" valueType="num">
                                      <p:cBhvr>
                                        <p:cTn id="17" dur="500" fill="hold"/>
                                        <p:tgtEl>
                                          <p:spTgt spid="107">
                                            <p:txEl>
                                              <p:pRg st="3" end="3"/>
                                            </p:txEl>
                                          </p:spTgt>
                                        </p:tgtEl>
                                        <p:attrNameLst>
                                          <p:attrName>ppt_w</p:attrName>
                                        </p:attrNameLst>
                                      </p:cBhvr>
                                      <p:tavLst>
                                        <p:tav tm="0">
                                          <p:val>
                                            <p:fltVal val="0"/>
                                          </p:val>
                                        </p:tav>
                                        <p:tav tm="100000">
                                          <p:val>
                                            <p:strVal val="#ppt_w"/>
                                          </p:val>
                                        </p:tav>
                                      </p:tavLst>
                                    </p:anim>
                                    <p:anim calcmode="lin" valueType="num">
                                      <p:cBhvr>
                                        <p:cTn id="18" dur="500" fill="hold"/>
                                        <p:tgtEl>
                                          <p:spTgt spid="107">
                                            <p:txEl>
                                              <p:pRg st="3" end="3"/>
                                            </p:txEl>
                                          </p:spTgt>
                                        </p:tgtEl>
                                        <p:attrNameLst>
                                          <p:attrName>ppt_h</p:attrName>
                                        </p:attrNameLst>
                                      </p:cBhvr>
                                      <p:tavLst>
                                        <p:tav tm="0">
                                          <p:val>
                                            <p:fltVal val="0"/>
                                          </p:val>
                                        </p:tav>
                                        <p:tav tm="100000">
                                          <p:val>
                                            <p:strVal val="#ppt_h"/>
                                          </p:val>
                                        </p:tav>
                                      </p:tavLst>
                                    </p:anim>
                                    <p:animEffect transition="in" filter="fade">
                                      <p:cBhvr>
                                        <p:cTn id="19" dur="500"/>
                                        <p:tgtEl>
                                          <p:spTgt spid="107">
                                            <p:txEl>
                                              <p:pRg st="3" end="3"/>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107">
                                            <p:txEl>
                                              <p:pRg st="4" end="4"/>
                                            </p:txEl>
                                          </p:spTgt>
                                        </p:tgtEl>
                                        <p:attrNameLst>
                                          <p:attrName>style.visibility</p:attrName>
                                        </p:attrNameLst>
                                      </p:cBhvr>
                                      <p:to>
                                        <p:strVal val="visible"/>
                                      </p:to>
                                    </p:set>
                                    <p:anim calcmode="lin" valueType="num">
                                      <p:cBhvr>
                                        <p:cTn id="22" dur="500" fill="hold"/>
                                        <p:tgtEl>
                                          <p:spTgt spid="107">
                                            <p:txEl>
                                              <p:pRg st="4" end="4"/>
                                            </p:txEl>
                                          </p:spTgt>
                                        </p:tgtEl>
                                        <p:attrNameLst>
                                          <p:attrName>ppt_w</p:attrName>
                                        </p:attrNameLst>
                                      </p:cBhvr>
                                      <p:tavLst>
                                        <p:tav tm="0">
                                          <p:val>
                                            <p:fltVal val="0"/>
                                          </p:val>
                                        </p:tav>
                                        <p:tav tm="100000">
                                          <p:val>
                                            <p:strVal val="#ppt_w"/>
                                          </p:val>
                                        </p:tav>
                                      </p:tavLst>
                                    </p:anim>
                                    <p:anim calcmode="lin" valueType="num">
                                      <p:cBhvr>
                                        <p:cTn id="23" dur="500" fill="hold"/>
                                        <p:tgtEl>
                                          <p:spTgt spid="107">
                                            <p:txEl>
                                              <p:pRg st="4" end="4"/>
                                            </p:txEl>
                                          </p:spTgt>
                                        </p:tgtEl>
                                        <p:attrNameLst>
                                          <p:attrName>ppt_h</p:attrName>
                                        </p:attrNameLst>
                                      </p:cBhvr>
                                      <p:tavLst>
                                        <p:tav tm="0">
                                          <p:val>
                                            <p:fltVal val="0"/>
                                          </p:val>
                                        </p:tav>
                                        <p:tav tm="100000">
                                          <p:val>
                                            <p:strVal val="#ppt_h"/>
                                          </p:val>
                                        </p:tav>
                                      </p:tavLst>
                                    </p:anim>
                                    <p:animEffect transition="in" filter="fade">
                                      <p:cBhvr>
                                        <p:cTn id="24" dur="500"/>
                                        <p:tgtEl>
                                          <p:spTgt spid="107">
                                            <p:txEl>
                                              <p:pRg st="4" end="4"/>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107">
                                            <p:txEl>
                                              <p:pRg st="5" end="5"/>
                                            </p:txEl>
                                          </p:spTgt>
                                        </p:tgtEl>
                                        <p:attrNameLst>
                                          <p:attrName>style.visibility</p:attrName>
                                        </p:attrNameLst>
                                      </p:cBhvr>
                                      <p:to>
                                        <p:strVal val="visible"/>
                                      </p:to>
                                    </p:set>
                                    <p:anim calcmode="lin" valueType="num">
                                      <p:cBhvr>
                                        <p:cTn id="27" dur="500" fill="hold"/>
                                        <p:tgtEl>
                                          <p:spTgt spid="107">
                                            <p:txEl>
                                              <p:pRg st="5" end="5"/>
                                            </p:txEl>
                                          </p:spTgt>
                                        </p:tgtEl>
                                        <p:attrNameLst>
                                          <p:attrName>ppt_w</p:attrName>
                                        </p:attrNameLst>
                                      </p:cBhvr>
                                      <p:tavLst>
                                        <p:tav tm="0">
                                          <p:val>
                                            <p:fltVal val="0"/>
                                          </p:val>
                                        </p:tav>
                                        <p:tav tm="100000">
                                          <p:val>
                                            <p:strVal val="#ppt_w"/>
                                          </p:val>
                                        </p:tav>
                                      </p:tavLst>
                                    </p:anim>
                                    <p:anim calcmode="lin" valueType="num">
                                      <p:cBhvr>
                                        <p:cTn id="28" dur="500" fill="hold"/>
                                        <p:tgtEl>
                                          <p:spTgt spid="107">
                                            <p:txEl>
                                              <p:pRg st="5" end="5"/>
                                            </p:txEl>
                                          </p:spTgt>
                                        </p:tgtEl>
                                        <p:attrNameLst>
                                          <p:attrName>ppt_h</p:attrName>
                                        </p:attrNameLst>
                                      </p:cBhvr>
                                      <p:tavLst>
                                        <p:tav tm="0">
                                          <p:val>
                                            <p:fltVal val="0"/>
                                          </p:val>
                                        </p:tav>
                                        <p:tav tm="100000">
                                          <p:val>
                                            <p:strVal val="#ppt_h"/>
                                          </p:val>
                                        </p:tav>
                                      </p:tavLst>
                                    </p:anim>
                                    <p:animEffect transition="in" filter="fade">
                                      <p:cBhvr>
                                        <p:cTn id="29" dur="500"/>
                                        <p:tgtEl>
                                          <p:spTgt spid="1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 name="Google Shape;169;p31"/>
          <p:cNvPicPr>
            <a:picLocks noGrp="1" noRo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sharpenSoften amount="-100000"/>
                    </a14:imgEffect>
                    <a14:imgEffect>
                      <a14:brightnessContrast bright="-14000" contrast="-3000"/>
                    </a14:imgEffect>
                  </a14:imgLayer>
                </a14:imgProps>
              </a:ext>
            </a:extLst>
          </a:blip>
          <a:srcRect l="4655" t="35574" r="4655" b="26166"/>
          <a:stretch/>
        </p:blipFill>
        <p:spPr>
          <a:xfrm flipH="1">
            <a:off x="-1" y="0"/>
            <a:ext cx="9144000" cy="5143500"/>
          </a:xfrm>
          <a:prstGeom prst="rect">
            <a:avLst/>
          </a:prstGeom>
          <a:ln w="0">
            <a:noFill/>
          </a:ln>
        </p:spPr>
      </p:pic>
      <p:sp>
        <p:nvSpPr>
          <p:cNvPr id="109" name="PlaceHolder 1"/>
          <p:cNvSpPr>
            <a:spLocks noGrp="1"/>
          </p:cNvSpPr>
          <p:nvPr>
            <p:ph type="title"/>
          </p:nvPr>
        </p:nvSpPr>
        <p:spPr>
          <a:xfrm>
            <a:off x="2249999" y="229140"/>
            <a:ext cx="4644000" cy="903715"/>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b="1" strike="noStrike" spc="-1" dirty="0">
                <a:solidFill>
                  <a:schemeClr val="bg1"/>
                </a:solidFill>
                <a:latin typeface="Chakra Petch"/>
                <a:ea typeface="Chakra Petch"/>
              </a:rPr>
              <a:t>Conclusion</a:t>
            </a:r>
            <a:endParaRPr lang="fr-FR" b="0" strike="noStrike" spc="-1" dirty="0">
              <a:solidFill>
                <a:schemeClr val="bg1"/>
              </a:solidFill>
              <a:latin typeface="Arial"/>
            </a:endParaRPr>
          </a:p>
        </p:txBody>
      </p:sp>
      <p:sp>
        <p:nvSpPr>
          <p:cNvPr id="110" name="PlaceHolder 2"/>
          <p:cNvSpPr>
            <a:spLocks noGrp="1"/>
          </p:cNvSpPr>
          <p:nvPr>
            <p:ph/>
          </p:nvPr>
        </p:nvSpPr>
        <p:spPr>
          <a:xfrm>
            <a:off x="1365368" y="1819200"/>
            <a:ext cx="6413262" cy="2333160"/>
          </a:xfrm>
          <a:prstGeom prst="rect">
            <a:avLst/>
          </a:prstGeom>
          <a:noFill/>
          <a:ln w="0">
            <a:noFill/>
          </a:ln>
        </p:spPr>
        <p:txBody>
          <a:bodyPr lIns="91440" tIns="91440" rIns="91440" bIns="91440" anchor="t">
            <a:normAutofit/>
          </a:bodyPr>
          <a:lstStyle/>
          <a:p>
            <a:pPr indent="0" algn="just">
              <a:lnSpc>
                <a:spcPct val="100000"/>
              </a:lnSpc>
              <a:buNone/>
              <a:tabLst>
                <a:tab pos="0" algn="l"/>
              </a:tabLst>
            </a:pPr>
            <a:r>
              <a:rPr lang="en" sz="1800" b="0" strike="noStrike" spc="-1" dirty="0">
                <a:solidFill>
                  <a:schemeClr val="bg1"/>
                </a:solidFill>
                <a:latin typeface="Times New Roman" panose="02020603050405020304" pitchFamily="18" charset="0"/>
                <a:ea typeface="SUSE"/>
                <a:cs typeface="Times New Roman" panose="02020603050405020304" pitchFamily="18" charset="0"/>
              </a:rPr>
              <a:t>VetCare 360 marque un tournant dans la gestion des cliniques vétérinaires en fournissant une solution desktop moderne, fiable et efficace. Développée en Java et JavaFX, elle répond aux exigences actuelles en matière de performance, d’organisation et de qualité de service, tout en facilitant le travail des professionnels du secteur.</a:t>
            </a:r>
            <a:endParaRPr lang="fr-FR" sz="1800" b="0" strike="noStrike" spc="-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barn(inVertical)">
                                      <p:cBhvr>
                                        <p:cTn id="7" dur="500"/>
                                        <p:tgtEl>
                                          <p:spTgt spid="1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
                                            <p:txEl>
                                              <p:pRg st="0" end="0"/>
                                            </p:txEl>
                                          </p:spTgt>
                                        </p:tgtEl>
                                        <p:attrNameLst>
                                          <p:attrName>style.visibility</p:attrName>
                                        </p:attrNameLst>
                                      </p:cBhvr>
                                      <p:to>
                                        <p:strVal val="visible"/>
                                      </p:to>
                                    </p:set>
                                    <p:animEffect transition="in" filter="fade">
                                      <p:cBhvr>
                                        <p:cTn id="12" dur="500"/>
                                        <p:tgtEl>
                                          <p:spTgt spid="1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PlaceHolder 1"/>
          <p:cNvSpPr>
            <a:spLocks noGrp="1"/>
          </p:cNvSpPr>
          <p:nvPr>
            <p:ph type="title" idx="4294967295"/>
          </p:nvPr>
        </p:nvSpPr>
        <p:spPr>
          <a:xfrm>
            <a:off x="2655887" y="749300"/>
            <a:ext cx="3835400" cy="1362075"/>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s-ES" sz="4000" b="1" strike="noStrike" spc="-1" dirty="0" err="1">
                <a:solidFill>
                  <a:schemeClr val="dk1"/>
                </a:solidFill>
                <a:latin typeface="Chakra Petch"/>
                <a:ea typeface="Chakra Petch"/>
              </a:rPr>
              <a:t>Merci</a:t>
            </a:r>
            <a:r>
              <a:rPr lang="es-ES" sz="4000" b="1" strike="noStrike" spc="-1" dirty="0">
                <a:solidFill>
                  <a:schemeClr val="dk1"/>
                </a:solidFill>
                <a:latin typeface="Chakra Petch"/>
                <a:ea typeface="Chakra Petch"/>
              </a:rPr>
              <a:t> de </a:t>
            </a:r>
            <a:r>
              <a:rPr lang="es-ES" sz="4000" b="1" strike="noStrike" spc="-1" dirty="0" err="1">
                <a:solidFill>
                  <a:schemeClr val="dk1"/>
                </a:solidFill>
                <a:latin typeface="Chakra Petch"/>
                <a:ea typeface="Chakra Petch"/>
              </a:rPr>
              <a:t>votre</a:t>
            </a:r>
            <a:r>
              <a:rPr lang="es-ES" sz="4000" b="1" strike="noStrike" spc="-1" dirty="0">
                <a:solidFill>
                  <a:schemeClr val="dk1"/>
                </a:solidFill>
                <a:latin typeface="Chakra Petch"/>
                <a:ea typeface="Chakra Petch"/>
              </a:rPr>
              <a:t> </a:t>
            </a:r>
            <a:r>
              <a:rPr lang="es-ES" sz="4000" b="1" strike="noStrike" spc="-1" dirty="0" err="1">
                <a:solidFill>
                  <a:schemeClr val="dk1"/>
                </a:solidFill>
                <a:latin typeface="Chakra Petch"/>
                <a:ea typeface="Chakra Petch"/>
              </a:rPr>
              <a:t>attention</a:t>
            </a:r>
            <a:endParaRPr lang="es-ES" sz="4000" b="1" strike="noStrike" spc="-1" dirty="0">
              <a:solidFill>
                <a:schemeClr val="dk1"/>
              </a:solidFill>
              <a:latin typeface="Chakra Petch"/>
              <a:ea typeface="Chakra Petch"/>
            </a:endParaRPr>
          </a:p>
        </p:txBody>
      </p:sp>
      <p:sp>
        <p:nvSpPr>
          <p:cNvPr id="113" name="PlaceHolder 2"/>
          <p:cNvSpPr>
            <a:spLocks noGrp="1"/>
          </p:cNvSpPr>
          <p:nvPr>
            <p:ph type="subTitle" idx="4294967295"/>
          </p:nvPr>
        </p:nvSpPr>
        <p:spPr>
          <a:xfrm>
            <a:off x="3178175" y="2027896"/>
            <a:ext cx="2879725" cy="543854"/>
          </a:xfrm>
          <a:prstGeom prst="rect">
            <a:avLst/>
          </a:prstGeom>
          <a:noFill/>
          <a:ln w="0">
            <a:noFill/>
          </a:ln>
        </p:spPr>
        <p:txBody>
          <a:bodyPr lIns="91440" tIns="91440" rIns="91440" bIns="91440" anchor="t">
            <a:normAutofit/>
          </a:bodyPr>
          <a:lstStyle/>
          <a:p>
            <a:pPr indent="0">
              <a:lnSpc>
                <a:spcPct val="100000"/>
              </a:lnSpc>
              <a:buNone/>
              <a:tabLst>
                <a:tab pos="0" algn="l"/>
              </a:tabLst>
            </a:pPr>
            <a:r>
              <a:rPr lang="es-ES" sz="1600" b="1" strike="noStrike" spc="-1" dirty="0" err="1">
                <a:solidFill>
                  <a:schemeClr val="dk1"/>
                </a:solidFill>
                <a:latin typeface="SUSE"/>
                <a:ea typeface="SUSE"/>
              </a:rPr>
              <a:t>Avez-vous</a:t>
            </a:r>
            <a:r>
              <a:rPr lang="es-ES" sz="1600" b="1" strike="noStrike" spc="-1" dirty="0">
                <a:solidFill>
                  <a:schemeClr val="dk1"/>
                </a:solidFill>
                <a:latin typeface="SUSE"/>
                <a:ea typeface="SUSE"/>
              </a:rPr>
              <a:t> des </a:t>
            </a:r>
            <a:r>
              <a:rPr lang="es-ES" sz="1600" b="1" strike="noStrike" spc="-1" dirty="0" err="1">
                <a:solidFill>
                  <a:schemeClr val="dk1"/>
                </a:solidFill>
                <a:latin typeface="SUSE"/>
                <a:ea typeface="SUSE"/>
              </a:rPr>
              <a:t>questions</a:t>
            </a:r>
            <a:r>
              <a:rPr lang="es-ES" sz="1600" b="1" strike="noStrike" spc="-1" dirty="0">
                <a:solidFill>
                  <a:schemeClr val="dk1"/>
                </a:solidFill>
                <a:latin typeface="SUSE"/>
                <a:ea typeface="SUSE"/>
              </a:rPr>
              <a:t> ?</a:t>
            </a:r>
          </a:p>
        </p:txBody>
      </p:sp>
      <p:sp>
        <p:nvSpPr>
          <p:cNvPr id="3" name="ZoneTexte 2">
            <a:extLst>
              <a:ext uri="{FF2B5EF4-FFF2-40B4-BE49-F238E27FC236}">
                <a16:creationId xmlns:a16="http://schemas.microsoft.com/office/drawing/2014/main" id="{1311C417-47C7-BD0C-3814-FCCA00CABD3C}"/>
              </a:ext>
            </a:extLst>
          </p:cNvPr>
          <p:cNvSpPr txBox="1"/>
          <p:nvPr/>
        </p:nvSpPr>
        <p:spPr>
          <a:xfrm>
            <a:off x="4448175" y="3389971"/>
            <a:ext cx="4086225" cy="1287532"/>
          </a:xfrm>
          <a:prstGeom prst="rect">
            <a:avLst/>
          </a:prstGeom>
          <a:noFill/>
        </p:spPr>
        <p:txBody>
          <a:bodyPr wrap="square" rtlCol="0">
            <a:spAutoFit/>
          </a:bodyPr>
          <a:lstStyle/>
          <a:p>
            <a:pPr>
              <a:lnSpc>
                <a:spcPct val="150000"/>
              </a:lnSpc>
            </a:pPr>
            <a:r>
              <a:rPr lang="fr-FR" b="1" dirty="0"/>
              <a:t>Présenté par </a:t>
            </a:r>
            <a:r>
              <a:rPr lang="fr-FR" dirty="0"/>
              <a:t>:</a:t>
            </a:r>
          </a:p>
          <a:p>
            <a:pPr marL="742950" lvl="1" indent="-285750">
              <a:lnSpc>
                <a:spcPct val="150000"/>
              </a:lnSpc>
              <a:buFont typeface="Arial" panose="020B0604020202020204" pitchFamily="34" charset="0"/>
              <a:buChar char="•"/>
            </a:pPr>
            <a:r>
              <a:rPr lang="fr-FR" dirty="0"/>
              <a:t>Hamza Achhaiba</a:t>
            </a:r>
          </a:p>
          <a:p>
            <a:pPr marL="742950" lvl="1" indent="-285750">
              <a:lnSpc>
                <a:spcPct val="150000"/>
              </a:lnSpc>
              <a:buFont typeface="Arial" panose="020B0604020202020204" pitchFamily="34" charset="0"/>
              <a:buChar char="•"/>
            </a:pPr>
            <a:r>
              <a:rPr lang="fr-FR" dirty="0"/>
              <a:t>Ossama Aydar</a:t>
            </a:r>
            <a:endParaRPr lang="en-15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AI Tools by Slidesgo">
  <a:themeElements>
    <a:clrScheme name="Simple Light">
      <a:dk1>
        <a:srgbClr val="1C1917"/>
      </a:dk1>
      <a:lt1>
        <a:srgbClr val="FFFFFF"/>
      </a:lt1>
      <a:dk2>
        <a:srgbClr val="FCD115"/>
      </a:dk2>
      <a:lt2>
        <a:srgbClr val="EB6C11"/>
      </a:lt2>
      <a:accent1>
        <a:srgbClr val="F024D7"/>
      </a:accent1>
      <a:accent2>
        <a:srgbClr val="9111BD"/>
      </a:accent2>
      <a:accent3>
        <a:srgbClr val="67FAFA"/>
      </a:accent3>
      <a:accent4>
        <a:srgbClr val="FFFFFF"/>
      </a:accent4>
      <a:accent5>
        <a:srgbClr val="FFFFFF"/>
      </a:accent5>
      <a:accent6>
        <a:srgbClr val="FFFFFF"/>
      </a:accent6>
      <a:hlink>
        <a:srgbClr val="1C191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AI Tools by Slidesgo">
  <a:themeElements>
    <a:clrScheme name="Simple Light">
      <a:dk1>
        <a:srgbClr val="1C1917"/>
      </a:dk1>
      <a:lt1>
        <a:srgbClr val="FFFFFF"/>
      </a:lt1>
      <a:dk2>
        <a:srgbClr val="FCD115"/>
      </a:dk2>
      <a:lt2>
        <a:srgbClr val="EB6C11"/>
      </a:lt2>
      <a:accent1>
        <a:srgbClr val="F024D7"/>
      </a:accent1>
      <a:accent2>
        <a:srgbClr val="9111BD"/>
      </a:accent2>
      <a:accent3>
        <a:srgbClr val="67FAFA"/>
      </a:accent3>
      <a:accent4>
        <a:srgbClr val="FFFFFF"/>
      </a:accent4>
      <a:accent5>
        <a:srgbClr val="FFFFFF"/>
      </a:accent5>
      <a:accent6>
        <a:srgbClr val="FFFFFF"/>
      </a:accent6>
      <a:hlink>
        <a:srgbClr val="1C191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AI Tools by Slidesgo">
  <a:themeElements>
    <a:clrScheme name="Simple Light">
      <a:dk1>
        <a:srgbClr val="1C1917"/>
      </a:dk1>
      <a:lt1>
        <a:srgbClr val="FFFFFF"/>
      </a:lt1>
      <a:dk2>
        <a:srgbClr val="FCD115"/>
      </a:dk2>
      <a:lt2>
        <a:srgbClr val="EB6C11"/>
      </a:lt2>
      <a:accent1>
        <a:srgbClr val="F024D7"/>
      </a:accent1>
      <a:accent2>
        <a:srgbClr val="9111BD"/>
      </a:accent2>
      <a:accent3>
        <a:srgbClr val="67FAFA"/>
      </a:accent3>
      <a:accent4>
        <a:srgbClr val="FFFFFF"/>
      </a:accent4>
      <a:accent5>
        <a:srgbClr val="FFFFFF"/>
      </a:accent5>
      <a:accent6>
        <a:srgbClr val="FFFFFF"/>
      </a:accent6>
      <a:hlink>
        <a:srgbClr val="1C191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AI Tools by Slidesgo">
  <a:themeElements>
    <a:clrScheme name="Simple Light">
      <a:dk1>
        <a:srgbClr val="1C1917"/>
      </a:dk1>
      <a:lt1>
        <a:srgbClr val="FFFFFF"/>
      </a:lt1>
      <a:dk2>
        <a:srgbClr val="FCD115"/>
      </a:dk2>
      <a:lt2>
        <a:srgbClr val="EB6C11"/>
      </a:lt2>
      <a:accent1>
        <a:srgbClr val="F024D7"/>
      </a:accent1>
      <a:accent2>
        <a:srgbClr val="9111BD"/>
      </a:accent2>
      <a:accent3>
        <a:srgbClr val="67FAFA"/>
      </a:accent3>
      <a:accent4>
        <a:srgbClr val="FFFFFF"/>
      </a:accent4>
      <a:accent5>
        <a:srgbClr val="FFFFFF"/>
      </a:accent5>
      <a:accent6>
        <a:srgbClr val="FFFFFF"/>
      </a:accent6>
      <a:hlink>
        <a:srgbClr val="1C191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145</TotalTime>
  <Words>403</Words>
  <Application>Microsoft Office PowerPoint</Application>
  <PresentationFormat>On-screen Show (16:9)</PresentationFormat>
  <Paragraphs>48</Paragraphs>
  <Slides>14</Slides>
  <Notes>0</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14</vt:i4>
      </vt:variant>
    </vt:vector>
  </HeadingPairs>
  <TitlesOfParts>
    <vt:vector size="26" baseType="lpstr">
      <vt:lpstr>Arial</vt:lpstr>
      <vt:lpstr>Bookman Old Style</vt:lpstr>
      <vt:lpstr>Chakra Petch</vt:lpstr>
      <vt:lpstr>OpenSymbol</vt:lpstr>
      <vt:lpstr>SUSE</vt:lpstr>
      <vt:lpstr>Symbol</vt:lpstr>
      <vt:lpstr>Times New Roman</vt:lpstr>
      <vt:lpstr>Wingdings</vt:lpstr>
      <vt:lpstr>AI Tools by Slidesgo</vt:lpstr>
      <vt:lpstr>AI Tools by Slidesgo</vt:lpstr>
      <vt:lpstr>AI Tools by Slidesgo</vt:lpstr>
      <vt:lpstr>AI Tools by Slidesgo</vt:lpstr>
      <vt:lpstr>VetCare 360</vt:lpstr>
      <vt:lpstr>PowerPoint Presentation</vt:lpstr>
      <vt:lpstr>Introduction</vt:lpstr>
      <vt:lpstr>Problèmes</vt:lpstr>
      <vt:lpstr>Gestion manuelle inefficace</vt:lpstr>
      <vt:lpstr>Besoin de transformation numérique</vt:lpstr>
      <vt:lpstr>Avantages de VetCare 360</vt:lpstr>
      <vt:lpstr>PowerPoint Presentation</vt:lpstr>
      <vt:lpstr>Architecture Technique</vt:lpstr>
      <vt:lpstr>PowerPoint Presentation</vt:lpstr>
      <vt:lpstr>Présentation de l’application VetCare 360</vt:lpstr>
      <vt:lpstr>PowerPoint Presentation</vt:lpstr>
      <vt:lpstr>Conclusion</vt:lpstr>
      <vt:lpstr>Merci de votre attention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aydar ossama</cp:lastModifiedBy>
  <cp:revision>7</cp:revision>
  <dcterms:modified xsi:type="dcterms:W3CDTF">2025-05-18T19:27:14Z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2025-05-17T21:34:29Z</dcterms:created>
  <dc:creator>Unknown Creator</dc:creator>
  <dc:description/>
  <dc:language>en-US</dc:language>
  <cp:lastModifiedBy>Unknown Creator</cp:lastModifiedBy>
  <dcterms:modified xsi:type="dcterms:W3CDTF">2025-05-17T21:34:29Z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13</vt:r8>
  </property>
</Properties>
</file>